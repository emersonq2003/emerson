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56" r:id="rId2"/>
    <p:sldId id="271" r:id="rId3"/>
    <p:sldId id="259" r:id="rId4"/>
    <p:sldId id="272" r:id="rId5"/>
    <p:sldId id="279" r:id="rId6"/>
    <p:sldId id="278" r:id="rId7"/>
    <p:sldId id="266" r:id="rId8"/>
    <p:sldId id="275" r:id="rId9"/>
    <p:sldId id="260" r:id="rId10"/>
    <p:sldId id="277" r:id="rId11"/>
    <p:sldId id="262" r:id="rId12"/>
    <p:sldId id="263" r:id="rId13"/>
    <p:sldId id="265" r:id="rId14"/>
  </p:sldIdLst>
  <p:sldSz cx="12192000" cy="6858000"/>
  <p:notesSz cx="6797675" cy="992822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hPOiGBvZWU21WgR0qD7IxxCYQXa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F40703B-A3B7-4090-A5F9-4EF23B1848C7}">
  <a:tblStyle styleId="{4F40703B-A3B7-4090-A5F9-4EF23B1848C7}"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b="off" i="off"/>
      <a:tcStyle>
        <a:tcBdr/>
        <a:fill>
          <a:solidFill>
            <a:srgbClr val="CFD7E7"/>
          </a:solidFill>
        </a:fill>
      </a:tcStyle>
    </a:band1H>
    <a:band2H>
      <a:tcTxStyle b="off" i="off"/>
      <a:tcStyle>
        <a:tcBdr/>
      </a:tcStyle>
    </a:band2H>
    <a:band1V>
      <a:tcTxStyle b="off" i="off"/>
      <a:tcStyle>
        <a:tcBdr/>
        <a:fill>
          <a:solidFill>
            <a:srgbClr val="CFD7E7"/>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7DA49016-CC71-441F-B061-2CD12C6B24FF}"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1188"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33150" y="744600"/>
            <a:ext cx="4532000" cy="37230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79750" y="4715900"/>
            <a:ext cx="5438125" cy="44677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txBox="1">
            <a:spLocks noGrp="1"/>
          </p:cNvSpPr>
          <p:nvPr>
            <p:ph type="body" idx="1"/>
          </p:nvPr>
        </p:nvSpPr>
        <p:spPr>
          <a:xfrm>
            <a:off x="679750" y="4715900"/>
            <a:ext cx="5438125" cy="446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1" name="Google Shape;81;p1:notes"/>
          <p:cNvSpPr>
            <a:spLocks noGrp="1" noRot="1" noChangeAspect="1"/>
          </p:cNvSpPr>
          <p:nvPr>
            <p:ph type="sldImg" idx="2"/>
          </p:nvPr>
        </p:nvSpPr>
        <p:spPr>
          <a:xfrm>
            <a:off x="92075" y="744538"/>
            <a:ext cx="6615113"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79750" y="4715900"/>
            <a:ext cx="5438125" cy="446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7" name="Google Shape;97;p3:notes"/>
          <p:cNvSpPr>
            <a:spLocks noGrp="1" noRot="1" noChangeAspect="1"/>
          </p:cNvSpPr>
          <p:nvPr>
            <p:ph type="sldImg" idx="2"/>
          </p:nvPr>
        </p:nvSpPr>
        <p:spPr>
          <a:xfrm>
            <a:off x="92075" y="744538"/>
            <a:ext cx="6615113"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743901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1:notes"/>
          <p:cNvSpPr txBox="1">
            <a:spLocks noGrp="1"/>
          </p:cNvSpPr>
          <p:nvPr>
            <p:ph type="body" idx="1"/>
          </p:nvPr>
        </p:nvSpPr>
        <p:spPr>
          <a:xfrm>
            <a:off x="679750" y="4715900"/>
            <a:ext cx="5438125" cy="446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21:notes"/>
          <p:cNvSpPr>
            <a:spLocks noGrp="1" noRot="1" noChangeAspect="1"/>
          </p:cNvSpPr>
          <p:nvPr>
            <p:ph type="sldImg" idx="2"/>
          </p:nvPr>
        </p:nvSpPr>
        <p:spPr>
          <a:xfrm>
            <a:off x="92075" y="744538"/>
            <a:ext cx="6615113"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1:notes"/>
          <p:cNvSpPr txBox="1">
            <a:spLocks noGrp="1"/>
          </p:cNvSpPr>
          <p:nvPr>
            <p:ph type="body" idx="1"/>
          </p:nvPr>
        </p:nvSpPr>
        <p:spPr>
          <a:xfrm>
            <a:off x="679750" y="4715900"/>
            <a:ext cx="5438125" cy="446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21:notes"/>
          <p:cNvSpPr>
            <a:spLocks noGrp="1" noRot="1" noChangeAspect="1"/>
          </p:cNvSpPr>
          <p:nvPr>
            <p:ph type="sldImg" idx="2"/>
          </p:nvPr>
        </p:nvSpPr>
        <p:spPr>
          <a:xfrm>
            <a:off x="92075" y="744538"/>
            <a:ext cx="6615113"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031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1:notes"/>
          <p:cNvSpPr txBox="1">
            <a:spLocks noGrp="1"/>
          </p:cNvSpPr>
          <p:nvPr>
            <p:ph type="body" idx="1"/>
          </p:nvPr>
        </p:nvSpPr>
        <p:spPr>
          <a:xfrm>
            <a:off x="679750" y="4715900"/>
            <a:ext cx="5438125" cy="446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21:notes"/>
          <p:cNvSpPr>
            <a:spLocks noGrp="1" noRot="1" noChangeAspect="1"/>
          </p:cNvSpPr>
          <p:nvPr>
            <p:ph type="sldImg" idx="2"/>
          </p:nvPr>
        </p:nvSpPr>
        <p:spPr>
          <a:xfrm>
            <a:off x="92075" y="744538"/>
            <a:ext cx="6615113"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678552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1:notes"/>
          <p:cNvSpPr txBox="1">
            <a:spLocks noGrp="1"/>
          </p:cNvSpPr>
          <p:nvPr>
            <p:ph type="body" idx="1"/>
          </p:nvPr>
        </p:nvSpPr>
        <p:spPr>
          <a:xfrm>
            <a:off x="679750" y="4715900"/>
            <a:ext cx="5438125" cy="446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21:notes"/>
          <p:cNvSpPr>
            <a:spLocks noGrp="1" noRot="1" noChangeAspect="1"/>
          </p:cNvSpPr>
          <p:nvPr>
            <p:ph type="sldImg" idx="2"/>
          </p:nvPr>
        </p:nvSpPr>
        <p:spPr>
          <a:xfrm>
            <a:off x="92075" y="744538"/>
            <a:ext cx="6615113"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79589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1:notes"/>
          <p:cNvSpPr txBox="1">
            <a:spLocks noGrp="1"/>
          </p:cNvSpPr>
          <p:nvPr>
            <p:ph type="body" idx="1"/>
          </p:nvPr>
        </p:nvSpPr>
        <p:spPr>
          <a:xfrm>
            <a:off x="679750" y="4715900"/>
            <a:ext cx="5438125" cy="446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21:notes"/>
          <p:cNvSpPr>
            <a:spLocks noGrp="1" noRot="1" noChangeAspect="1"/>
          </p:cNvSpPr>
          <p:nvPr>
            <p:ph type="sldImg" idx="2"/>
          </p:nvPr>
        </p:nvSpPr>
        <p:spPr>
          <a:xfrm>
            <a:off x="92075" y="744538"/>
            <a:ext cx="6615113"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42939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679750" y="4715900"/>
            <a:ext cx="5438100" cy="4467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0" name="Google Shape;120;p5:notes"/>
          <p:cNvSpPr>
            <a:spLocks noGrp="1" noRot="1" noChangeAspect="1"/>
          </p:cNvSpPr>
          <p:nvPr>
            <p:ph type="sldImg" idx="2"/>
          </p:nvPr>
        </p:nvSpPr>
        <p:spPr>
          <a:xfrm>
            <a:off x="92075" y="744538"/>
            <a:ext cx="6615113"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33146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79750" y="4715900"/>
            <a:ext cx="5438100" cy="4467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4:notes"/>
          <p:cNvSpPr>
            <a:spLocks noGrp="1" noRot="1" noChangeAspect="1"/>
          </p:cNvSpPr>
          <p:nvPr>
            <p:ph type="sldImg" idx="2"/>
          </p:nvPr>
        </p:nvSpPr>
        <p:spPr>
          <a:xfrm>
            <a:off x="92075" y="744538"/>
            <a:ext cx="6615113"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79750" y="4715900"/>
            <a:ext cx="5438100" cy="4467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4:notes"/>
          <p:cNvSpPr>
            <a:spLocks noGrp="1" noRot="1" noChangeAspect="1"/>
          </p:cNvSpPr>
          <p:nvPr>
            <p:ph type="sldImg" idx="2"/>
          </p:nvPr>
        </p:nvSpPr>
        <p:spPr>
          <a:xfrm>
            <a:off x="92075" y="744538"/>
            <a:ext cx="6615113"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841759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679750" y="4715900"/>
            <a:ext cx="5438100" cy="4467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0" name="Google Shape;120;p5:notes"/>
          <p:cNvSpPr>
            <a:spLocks noGrp="1" noRot="1" noChangeAspect="1"/>
          </p:cNvSpPr>
          <p:nvPr>
            <p:ph type="sldImg" idx="2"/>
          </p:nvPr>
        </p:nvSpPr>
        <p:spPr>
          <a:xfrm>
            <a:off x="92075" y="744538"/>
            <a:ext cx="6615113"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6:notes"/>
          <p:cNvSpPr txBox="1">
            <a:spLocks noGrp="1"/>
          </p:cNvSpPr>
          <p:nvPr>
            <p:ph type="body" idx="1"/>
          </p:nvPr>
        </p:nvSpPr>
        <p:spPr>
          <a:xfrm>
            <a:off x="679750" y="4715900"/>
            <a:ext cx="5438100" cy="4467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p6:notes"/>
          <p:cNvSpPr>
            <a:spLocks noGrp="1" noRot="1" noChangeAspect="1"/>
          </p:cNvSpPr>
          <p:nvPr>
            <p:ph type="sldImg" idx="2"/>
          </p:nvPr>
        </p:nvSpPr>
        <p:spPr>
          <a:xfrm>
            <a:off x="92075" y="744538"/>
            <a:ext cx="6615113"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79750" y="4715900"/>
            <a:ext cx="5438100" cy="4467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s-MX"/>
              <a:t> </a:t>
            </a:r>
            <a:endParaRPr/>
          </a:p>
        </p:txBody>
      </p:sp>
      <p:sp>
        <p:nvSpPr>
          <p:cNvPr id="137" name="Google Shape;137;p7:notes"/>
          <p:cNvSpPr>
            <a:spLocks noGrp="1" noRot="1" noChangeAspect="1"/>
          </p:cNvSpPr>
          <p:nvPr>
            <p:ph type="sldImg" idx="2"/>
          </p:nvPr>
        </p:nvSpPr>
        <p:spPr>
          <a:xfrm>
            <a:off x="92075" y="744538"/>
            <a:ext cx="6615113"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10"/>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 name="Google Shape;9;p10"/>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R="0" lvl="1"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0" name="Google Shape;10;p1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 name="Google Shape;11;p1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1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MX"/>
              <a:t>‹Nº›</a:t>
            </a:fld>
            <a:endParaRPr/>
          </a:p>
        </p:txBody>
      </p:sp>
      <p:pic>
        <p:nvPicPr>
          <p:cNvPr id="13" name="Google Shape;13;p10" descr="Captura de Pantalla 2019-07-01 a la(s) 22.24.00.png"/>
          <p:cNvPicPr preferRelativeResize="0"/>
          <p:nvPr/>
        </p:nvPicPr>
        <p:blipFill rotWithShape="1">
          <a:blip r:embed="rId2">
            <a:alphaModFix/>
          </a:blip>
          <a:srcRect/>
          <a:stretch/>
        </p:blipFill>
        <p:spPr>
          <a:xfrm>
            <a:off x="-146547" y="0"/>
            <a:ext cx="12338547" cy="6858000"/>
          </a:xfrm>
          <a:prstGeom prst="rect">
            <a:avLst/>
          </a:prstGeom>
          <a:noFill/>
          <a:ln>
            <a:noFill/>
          </a:ln>
        </p:spPr>
      </p:pic>
      <p:pic>
        <p:nvPicPr>
          <p:cNvPr id="14" name="Google Shape;14;p10" descr="insignia-colegio-fondo-transparente.png"/>
          <p:cNvPicPr preferRelativeResize="0"/>
          <p:nvPr/>
        </p:nvPicPr>
        <p:blipFill rotWithShape="1">
          <a:blip r:embed="rId3">
            <a:alphaModFix/>
          </a:blip>
          <a:srcRect/>
          <a:stretch/>
        </p:blipFill>
        <p:spPr>
          <a:xfrm>
            <a:off x="9742924" y="605380"/>
            <a:ext cx="2145779" cy="20179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1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 name="Google Shape;17;p11"/>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8" name="Google Shape;18;p1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1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1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MX"/>
              <a:t>‹Nº›</a:t>
            </a:fld>
            <a:endParaRPr/>
          </a:p>
        </p:txBody>
      </p:sp>
      <p:pic>
        <p:nvPicPr>
          <p:cNvPr id="21" name="Google Shape;21;p11" descr="insignia-colegio-fondo-transparente.png"/>
          <p:cNvPicPr preferRelativeResize="0"/>
          <p:nvPr/>
        </p:nvPicPr>
        <p:blipFill rotWithShape="1">
          <a:blip r:embed="rId2">
            <a:alphaModFix/>
          </a:blip>
          <a:srcRect/>
          <a:stretch/>
        </p:blipFill>
        <p:spPr>
          <a:xfrm>
            <a:off x="10660836" y="5682852"/>
            <a:ext cx="1249601" cy="117514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
        <p:cNvGrpSpPr/>
        <p:nvPr/>
      </p:nvGrpSpPr>
      <p:grpSpPr>
        <a:xfrm>
          <a:off x="0" y="0"/>
          <a:ext cx="0" cy="0"/>
          <a:chOff x="0" y="0"/>
          <a:chExt cx="0" cy="0"/>
        </a:xfrm>
      </p:grpSpPr>
      <p:sp>
        <p:nvSpPr>
          <p:cNvPr id="23" name="Google Shape;23;p12"/>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4" name="Google Shape;24;p12"/>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25" name="Google Shape;25;p1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1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1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8"/>
        <p:cNvGrpSpPr/>
        <p:nvPr/>
      </p:nvGrpSpPr>
      <p:grpSpPr>
        <a:xfrm>
          <a:off x="0" y="0"/>
          <a:ext cx="0" cy="0"/>
          <a:chOff x="0" y="0"/>
          <a:chExt cx="0" cy="0"/>
        </a:xfrm>
      </p:grpSpPr>
      <p:sp>
        <p:nvSpPr>
          <p:cNvPr id="29" name="Google Shape;29;p1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0" name="Google Shape;30;p13"/>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1" name="Google Shape;31;p13"/>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2" name="Google Shape;32;p1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3" name="Google Shape;33;p1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1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5"/>
        <p:cNvGrpSpPr/>
        <p:nvPr/>
      </p:nvGrpSpPr>
      <p:grpSpPr>
        <a:xfrm>
          <a:off x="0" y="0"/>
          <a:ext cx="0" cy="0"/>
          <a:chOff x="0" y="0"/>
          <a:chExt cx="0" cy="0"/>
        </a:xfrm>
      </p:grpSpPr>
      <p:sp>
        <p:nvSpPr>
          <p:cNvPr id="36" name="Google Shape;36;p1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7" name="Google Shape;37;p14"/>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8" name="Google Shape;38;p14"/>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39" name="Google Shape;39;p14"/>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0" name="Google Shape;40;p14"/>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1" name="Google Shape;41;p1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1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3" name="Google Shape;43;p1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
        <p:cNvGrpSpPr/>
        <p:nvPr/>
      </p:nvGrpSpPr>
      <p:grpSpPr>
        <a:xfrm>
          <a:off x="0" y="0"/>
          <a:ext cx="0" cy="0"/>
          <a:chOff x="0" y="0"/>
          <a:chExt cx="0" cy="0"/>
        </a:xfrm>
      </p:grpSpPr>
      <p:sp>
        <p:nvSpPr>
          <p:cNvPr id="45" name="Google Shape;45;p1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6" name="Google Shape;46;p1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1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1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9"/>
        <p:cNvGrpSpPr/>
        <p:nvPr/>
      </p:nvGrpSpPr>
      <p:grpSpPr>
        <a:xfrm>
          <a:off x="0" y="0"/>
          <a:ext cx="0" cy="0"/>
          <a:chOff x="0" y="0"/>
          <a:chExt cx="0" cy="0"/>
        </a:xfrm>
      </p:grpSpPr>
      <p:sp>
        <p:nvSpPr>
          <p:cNvPr id="50" name="Google Shape;50;p1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1" name="Google Shape;51;p1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1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3"/>
        <p:cNvGrpSpPr/>
        <p:nvPr/>
      </p:nvGrpSpPr>
      <p:grpSpPr>
        <a:xfrm>
          <a:off x="0" y="0"/>
          <a:ext cx="0" cy="0"/>
          <a:chOff x="0" y="0"/>
          <a:chExt cx="0" cy="0"/>
        </a:xfrm>
      </p:grpSpPr>
      <p:sp>
        <p:nvSpPr>
          <p:cNvPr id="54" name="Google Shape;54;p17"/>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5" name="Google Shape;55;p17"/>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6" name="Google Shape;56;p17"/>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57" name="Google Shape;57;p1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8" name="Google Shape;58;p1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1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0"/>
        <p:cNvGrpSpPr/>
        <p:nvPr/>
      </p:nvGrpSpPr>
      <p:grpSpPr>
        <a:xfrm>
          <a:off x="0" y="0"/>
          <a:ext cx="0" cy="0"/>
          <a:chOff x="0" y="0"/>
          <a:chExt cx="0" cy="0"/>
        </a:xfrm>
      </p:grpSpPr>
      <p:sp>
        <p:nvSpPr>
          <p:cNvPr id="61" name="Google Shape;61;p18"/>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2" name="Google Shape;62;p18"/>
          <p:cNvSpPr>
            <a:spLocks noGrp="1"/>
          </p:cNvSpPr>
          <p:nvPr>
            <p:ph type="pic" idx="2"/>
          </p:nvPr>
        </p:nvSpPr>
        <p:spPr>
          <a:xfrm>
            <a:off x="2389717" y="612775"/>
            <a:ext cx="7315200" cy="4114800"/>
          </a:xfrm>
          <a:prstGeom prst="rect">
            <a:avLst/>
          </a:prstGeom>
          <a:noFill/>
          <a:ln>
            <a:noFill/>
          </a:ln>
        </p:spPr>
      </p:sp>
      <p:sp>
        <p:nvSpPr>
          <p:cNvPr id="63" name="Google Shape;63;p18"/>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64" name="Google Shape;64;p1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1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p1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7"/>
        <p:cNvGrpSpPr/>
        <p:nvPr/>
      </p:nvGrpSpPr>
      <p:grpSpPr>
        <a:xfrm>
          <a:off x="0" y="0"/>
          <a:ext cx="0" cy="0"/>
          <a:chOff x="0" y="0"/>
          <a:chExt cx="0" cy="0"/>
        </a:xfrm>
      </p:grpSpPr>
      <p:sp>
        <p:nvSpPr>
          <p:cNvPr id="68" name="Google Shape;68;p1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9" name="Google Shape;69;p19"/>
          <p:cNvSpPr txBox="1">
            <a:spLocks noGrp="1"/>
          </p:cNvSpPr>
          <p:nvPr>
            <p:ph type="body" idx="1"/>
          </p:nvPr>
        </p:nvSpPr>
        <p:spPr>
          <a:xfrm rot="5400000">
            <a:off x="3833019" y="-1623217"/>
            <a:ext cx="4525963" cy="109728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0" name="Google Shape;70;p1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2" name="Google Shape;72;p1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3"/>
        <p:cNvGrpSpPr/>
        <p:nvPr/>
      </p:nvGrpSpPr>
      <p:grpSpPr>
        <a:xfrm>
          <a:off x="0" y="0"/>
          <a:ext cx="0" cy="0"/>
          <a:chOff x="0" y="0"/>
          <a:chExt cx="0" cy="0"/>
        </a:xfrm>
      </p:grpSpPr>
      <p:sp>
        <p:nvSpPr>
          <p:cNvPr id="74" name="Google Shape;74;p20"/>
          <p:cNvSpPr txBox="1">
            <a:spLocks noGrp="1"/>
          </p:cNvSpPr>
          <p:nvPr>
            <p:ph type="title"/>
          </p:nvPr>
        </p:nvSpPr>
        <p:spPr>
          <a:xfrm rot="5400000">
            <a:off x="7285037" y="1828802"/>
            <a:ext cx="5851525" cy="27432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5" name="Google Shape;75;p20"/>
          <p:cNvSpPr txBox="1">
            <a:spLocks noGrp="1"/>
          </p:cNvSpPr>
          <p:nvPr>
            <p:ph type="body" idx="1"/>
          </p:nvPr>
        </p:nvSpPr>
        <p:spPr>
          <a:xfrm rot="5400000">
            <a:off x="1697037" y="-812799"/>
            <a:ext cx="5851525" cy="80264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6" name="Google Shape;76;p2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2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2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MX"/>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9" descr="Captura de Pantalla 2019-07-01 a la(s) 22.27.30.png"/>
          <p:cNvPicPr preferRelativeResize="0"/>
          <p:nvPr/>
        </p:nvPicPr>
        <p:blipFill rotWithShape="1">
          <a:blip r:embed="rId13">
            <a:alphaModFix/>
          </a:blip>
          <a:srcRect/>
          <a:stretch/>
        </p:blipFill>
        <p:spPr>
          <a:xfrm>
            <a:off x="0" y="0"/>
            <a:ext cx="12192000" cy="6858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pic>
        <p:nvPicPr>
          <p:cNvPr id="83" name="Google Shape;83;p1"/>
          <p:cNvPicPr preferRelativeResize="0"/>
          <p:nvPr/>
        </p:nvPicPr>
        <p:blipFill rotWithShape="1">
          <a:blip r:embed="rId3">
            <a:alphaModFix/>
          </a:blip>
          <a:srcRect/>
          <a:stretch/>
        </p:blipFill>
        <p:spPr>
          <a:xfrm>
            <a:off x="9728663" y="127591"/>
            <a:ext cx="2155066" cy="2702221"/>
          </a:xfrm>
          <a:prstGeom prst="rect">
            <a:avLst/>
          </a:prstGeom>
          <a:noFill/>
          <a:ln>
            <a:noFill/>
          </a:ln>
        </p:spPr>
      </p:pic>
      <p:pic>
        <p:nvPicPr>
          <p:cNvPr id="84" name="Google Shape;84;p1"/>
          <p:cNvPicPr preferRelativeResize="0"/>
          <p:nvPr/>
        </p:nvPicPr>
        <p:blipFill rotWithShape="1">
          <a:blip r:embed="rId4">
            <a:alphaModFix/>
          </a:blip>
          <a:srcRect/>
          <a:stretch/>
        </p:blipFill>
        <p:spPr>
          <a:xfrm>
            <a:off x="308271" y="309822"/>
            <a:ext cx="2519989" cy="2519989"/>
          </a:xfrm>
          <a:prstGeom prst="rect">
            <a:avLst/>
          </a:prstGeom>
          <a:noFill/>
          <a:ln>
            <a:noFill/>
          </a:ln>
        </p:spPr>
      </p:pic>
      <p:sp>
        <p:nvSpPr>
          <p:cNvPr id="85" name="Google Shape;85;p1"/>
          <p:cNvSpPr txBox="1"/>
          <p:nvPr/>
        </p:nvSpPr>
        <p:spPr>
          <a:xfrm>
            <a:off x="3009900" y="531250"/>
            <a:ext cx="6514200" cy="28977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4800"/>
              <a:buFont typeface="Arial"/>
              <a:buNone/>
            </a:pPr>
            <a:r>
              <a:rPr lang="es-MX" sz="4600" b="1" i="0" u="none" strike="noStrike" cap="none">
                <a:solidFill>
                  <a:schemeClr val="dk2"/>
                </a:solidFill>
                <a:latin typeface="Calibri"/>
                <a:ea typeface="Calibri"/>
                <a:cs typeface="Calibri"/>
                <a:sym typeface="Calibri"/>
              </a:rPr>
              <a:t>PRESENTACIÓN PROGRAMA DE ESTUDIO DE LA ASIGNATURA</a:t>
            </a:r>
            <a:endParaRPr sz="1200" b="1" i="0" u="none" strike="noStrike" cap="none">
              <a:solidFill>
                <a:srgbClr val="000000"/>
              </a:solidFill>
              <a:latin typeface="Arial"/>
              <a:ea typeface="Arial"/>
              <a:cs typeface="Arial"/>
              <a:sym typeface="Arial"/>
            </a:endParaRPr>
          </a:p>
        </p:txBody>
      </p:sp>
      <p:sp>
        <p:nvSpPr>
          <p:cNvPr id="86" name="Google Shape;86;p1"/>
          <p:cNvSpPr/>
          <p:nvPr/>
        </p:nvSpPr>
        <p:spPr>
          <a:xfrm>
            <a:off x="483326" y="3914775"/>
            <a:ext cx="5969725" cy="1247775"/>
          </a:xfrm>
          <a:prstGeom prst="rect">
            <a:avLst/>
          </a:prstGeom>
          <a:gradFill>
            <a:gsLst>
              <a:gs pos="0">
                <a:srgbClr val="9FC3FF"/>
              </a:gs>
              <a:gs pos="35000">
                <a:srgbClr val="BDD5FF"/>
              </a:gs>
              <a:gs pos="100000">
                <a:srgbClr val="E4EEFF"/>
              </a:gs>
            </a:gsLst>
            <a:lin ang="16200000" scaled="0"/>
          </a:gradFill>
          <a:ln w="9525" cap="flat" cmpd="sng">
            <a:solidFill>
              <a:srgbClr val="4A7DBA"/>
            </a:solidFill>
            <a:prstDash val="solid"/>
            <a:round/>
            <a:headEnd type="none" w="sm" len="sm"/>
            <a:tailEnd type="none" w="sm" len="sm"/>
          </a:ln>
          <a:effectLst>
            <a:outerShdw blurRad="40000" dist="20000" dir="5400000" rotWithShape="0">
              <a:srgbClr val="000000">
                <a:alpha val="36862"/>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100"/>
              <a:buFont typeface="Arial"/>
              <a:buNone/>
            </a:pPr>
            <a:r>
              <a:rPr lang="es-MX" sz="2100" b="1" i="0" u="none" strike="noStrike" cap="none" dirty="0">
                <a:solidFill>
                  <a:schemeClr val="dk1"/>
                </a:solidFill>
                <a:latin typeface="Arial"/>
                <a:ea typeface="Arial"/>
                <a:cs typeface="Arial"/>
                <a:sym typeface="Arial"/>
              </a:rPr>
              <a:t>MÓDULO comunicaciones inalámbrica</a:t>
            </a:r>
            <a:endParaRPr sz="2100" b="1" i="0" u="none" strike="noStrike" cap="none" dirty="0">
              <a:solidFill>
                <a:schemeClr val="dk1"/>
              </a:solidFill>
              <a:latin typeface="Arial"/>
              <a:ea typeface="Arial"/>
              <a:cs typeface="Arial"/>
              <a:sym typeface="Arial"/>
            </a:endParaRPr>
          </a:p>
        </p:txBody>
      </p:sp>
      <p:sp>
        <p:nvSpPr>
          <p:cNvPr id="87" name="Google Shape;87;p1"/>
          <p:cNvSpPr/>
          <p:nvPr/>
        </p:nvSpPr>
        <p:spPr>
          <a:xfrm>
            <a:off x="6871063" y="5162550"/>
            <a:ext cx="5146765" cy="771525"/>
          </a:xfrm>
          <a:prstGeom prst="rect">
            <a:avLst/>
          </a:prstGeom>
          <a:gradFill>
            <a:gsLst>
              <a:gs pos="0">
                <a:srgbClr val="9FC3FF"/>
              </a:gs>
              <a:gs pos="35000">
                <a:srgbClr val="BDD5FF"/>
              </a:gs>
              <a:gs pos="100000">
                <a:srgbClr val="E4EEFF"/>
              </a:gs>
            </a:gsLst>
            <a:lin ang="16200000" scaled="0"/>
          </a:gradFill>
          <a:ln w="9525" cap="flat" cmpd="sng">
            <a:solidFill>
              <a:srgbClr val="4A7DBA"/>
            </a:solidFill>
            <a:prstDash val="solid"/>
            <a:round/>
            <a:headEnd type="none" w="sm" len="sm"/>
            <a:tailEnd type="none" w="sm" len="sm"/>
          </a:ln>
          <a:effectLst>
            <a:outerShdw blurRad="40000" dist="20000" dir="5400000" rotWithShape="0">
              <a:srgbClr val="000000">
                <a:alpha val="36862"/>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900"/>
              <a:buFont typeface="Arial"/>
              <a:buNone/>
            </a:pPr>
            <a:r>
              <a:rPr lang="es-MX" sz="1900" b="1" i="0" u="none" strike="noStrike" cap="none" dirty="0">
                <a:solidFill>
                  <a:schemeClr val="dk1"/>
                </a:solidFill>
                <a:latin typeface="Arial"/>
                <a:ea typeface="Arial"/>
                <a:cs typeface="Arial"/>
                <a:sym typeface="Arial"/>
              </a:rPr>
              <a:t>CURSO:4°C</a:t>
            </a:r>
            <a:endParaRPr sz="19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00"/>
              <a:buFont typeface="Arial"/>
              <a:buNone/>
            </a:pPr>
            <a:r>
              <a:rPr lang="es-MX" sz="1900" b="1" i="0" u="none" strike="noStrike" cap="none" dirty="0">
                <a:solidFill>
                  <a:schemeClr val="dk1"/>
                </a:solidFill>
                <a:latin typeface="Arial"/>
                <a:ea typeface="Arial"/>
                <a:cs typeface="Arial"/>
                <a:sym typeface="Arial"/>
              </a:rPr>
              <a:t>PROFESOR :Emerson Quevedo</a:t>
            </a:r>
            <a:endParaRPr sz="1900" b="1" i="0" u="none" strike="noStrike" cap="none" dirty="0">
              <a:solidFill>
                <a:schemeClr val="dk1"/>
              </a:solidFill>
              <a:latin typeface="Arial"/>
              <a:ea typeface="Arial"/>
              <a:cs typeface="Arial"/>
              <a:sym typeface="Arial"/>
            </a:endParaRP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581024" y="247650"/>
            <a:ext cx="10972800" cy="733647"/>
          </a:xfrm>
          <a:prstGeom prst="rect">
            <a:avLst/>
          </a:prstGeom>
          <a:noFill/>
          <a:ln>
            <a:noFill/>
          </a:ln>
        </p:spPr>
        <p:txBody>
          <a:bodyPr spcFirstLastPara="1" wrap="square" lIns="91425" tIns="45700" rIns="91425" bIns="45700" anchor="t" anchorCtr="0">
            <a:noAutofit/>
          </a:bodyPr>
          <a:lstStyle/>
          <a:p>
            <a:r>
              <a:rPr lang="es-MX" sz="2400" dirty="0">
                <a:solidFill>
                  <a:srgbClr val="000000"/>
                </a:solidFill>
                <a:latin typeface="Arial"/>
                <a:ea typeface="Arial"/>
                <a:cs typeface="Arial"/>
                <a:sym typeface="Arial"/>
              </a:rPr>
              <a:t>A qué está referida la especialidad ( ¿Para qué prepara?)</a:t>
            </a:r>
            <a:br>
              <a:rPr lang="es-MX" sz="2400" dirty="0">
                <a:solidFill>
                  <a:srgbClr val="000000"/>
                </a:solidFill>
                <a:latin typeface="Arial"/>
                <a:ea typeface="Arial"/>
                <a:cs typeface="Arial"/>
                <a:sym typeface="Arial"/>
              </a:rPr>
            </a:br>
            <a:endParaRPr sz="2400" b="1" dirty="0"/>
          </a:p>
        </p:txBody>
      </p:sp>
      <p:sp>
        <p:nvSpPr>
          <p:cNvPr id="100" name="Google Shape;100;p3"/>
          <p:cNvSpPr txBox="1"/>
          <p:nvPr/>
        </p:nvSpPr>
        <p:spPr>
          <a:xfrm>
            <a:off x="581024" y="1332411"/>
            <a:ext cx="4997740" cy="5215746"/>
          </a:xfrm>
          <a:prstGeom prst="rect">
            <a:avLst/>
          </a:prstGeom>
          <a:noFill/>
          <a:ln>
            <a:noFill/>
          </a:ln>
        </p:spPr>
        <p:txBody>
          <a:bodyPr spcFirstLastPara="1" wrap="square" lIns="91425" tIns="45700" rIns="91425" bIns="45700" anchor="t" anchorCtr="0">
            <a:spAutoFit/>
          </a:bodyPr>
          <a:lstStyle/>
          <a:p>
            <a:pPr algn="just">
              <a:lnSpc>
                <a:spcPct val="107000"/>
              </a:lnSpc>
              <a:spcAft>
                <a:spcPts val="800"/>
              </a:spcAft>
            </a:pPr>
            <a:r>
              <a:rPr lang="es-CL" sz="2000" dirty="0">
                <a:latin typeface="Arial" panose="020B0604020202020204" pitchFamily="34" charset="0"/>
                <a:ea typeface="Calibri" panose="020F0502020204030204" pitchFamily="34" charset="0"/>
                <a:cs typeface="Times New Roman" panose="02020603050405020304" pitchFamily="18" charset="0"/>
              </a:rPr>
              <a:t>El estudiante egresado de telecomunicaciones será capaz de leer y utilizar esquemas asociados a la administración y certificación de pequeñas redes inalámbricas o cableadas</a:t>
            </a:r>
          </a:p>
          <a:p>
            <a:pPr algn="just">
              <a:lnSpc>
                <a:spcPct val="107000"/>
              </a:lnSpc>
              <a:spcAft>
                <a:spcPts val="800"/>
              </a:spcAft>
            </a:pPr>
            <a:r>
              <a:rPr lang="es-CL" sz="2000" dirty="0">
                <a:latin typeface="Arial" panose="020B0604020202020204" pitchFamily="34" charset="0"/>
                <a:ea typeface="Calibri" panose="020F0502020204030204" pitchFamily="34" charset="0"/>
                <a:cs typeface="Times New Roman" panose="02020603050405020304" pitchFamily="18" charset="0"/>
              </a:rPr>
              <a:t>.Instalando y configurando equipos de distribución de servicios básicos de comunicación (datos, voz y video), realizando mantenimiento y reparaciones menores en equipos y sistemas de telecomunicaciones para asegurar el buen funcionamiento, cumpliendo con los estándares de calidad y seguridad establecidos. </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R="0" lvl="0" algn="l" rtl="0">
              <a:lnSpc>
                <a:spcPct val="100000"/>
              </a:lnSpc>
              <a:spcBef>
                <a:spcPts val="0"/>
              </a:spcBef>
              <a:spcAft>
                <a:spcPts val="0"/>
              </a:spcAft>
              <a:buClr>
                <a:srgbClr val="000000"/>
              </a:buClr>
              <a:buSzPts val="2000"/>
            </a:pPr>
            <a:r>
              <a:rPr lang="es-MX" sz="2000" b="0" i="0" u="none" strike="noStrike" cap="none" dirty="0">
                <a:solidFill>
                  <a:srgbClr val="000000"/>
                </a:solidFill>
                <a:latin typeface="Arial"/>
                <a:ea typeface="Arial"/>
                <a:cs typeface="Arial"/>
                <a:sym typeface="Arial"/>
              </a:rPr>
              <a:t>	</a:t>
            </a:r>
            <a:endParaRPr sz="2800" b="0" i="0" u="none" strike="noStrike" cap="none" dirty="0">
              <a:solidFill>
                <a:srgbClr val="000000"/>
              </a:solidFill>
              <a:latin typeface="Arial"/>
              <a:ea typeface="Arial"/>
              <a:cs typeface="Arial"/>
              <a:sym typeface="Arial"/>
            </a:endParaRPr>
          </a:p>
        </p:txBody>
      </p:sp>
      <p:pic>
        <p:nvPicPr>
          <p:cNvPr id="4" name="Imagen 3" descr="O que é PAN, &lt;strong&gt;LAN&lt;/strong&gt;, MAN, WAN e SAN ? - &lt;strong&gt;Redes&lt;/strong&gt; | Limon Tec"/>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0985" y="1667662"/>
            <a:ext cx="4510749" cy="3190665"/>
          </a:xfrm>
          <a:prstGeom prst="rect">
            <a:avLst/>
          </a:prstGeom>
        </p:spPr>
      </p:pic>
    </p:spTree>
    <p:extLst>
      <p:ext uri="{BB962C8B-B14F-4D97-AF65-F5344CB8AC3E}">
        <p14:creationId xmlns:p14="http://schemas.microsoft.com/office/powerpoint/2010/main" val="1144338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1"/>
          <p:cNvSpPr txBox="1">
            <a:spLocks noGrp="1"/>
          </p:cNvSpPr>
          <p:nvPr>
            <p:ph type="title"/>
          </p:nvPr>
        </p:nvSpPr>
        <p:spPr>
          <a:xfrm>
            <a:off x="285460" y="238413"/>
            <a:ext cx="10972800" cy="733647"/>
          </a:xfrm>
          <a:prstGeom prst="rect">
            <a:avLst/>
          </a:prstGeom>
          <a:noFill/>
          <a:ln>
            <a:noFill/>
          </a:ln>
        </p:spPr>
        <p:txBody>
          <a:bodyPr spcFirstLastPara="1" wrap="square" lIns="91425" tIns="45700" rIns="91425" bIns="45700" anchor="t" anchorCtr="0">
            <a:noAutofit/>
          </a:bodyPr>
          <a:lstStyle/>
          <a:p>
            <a:pPr lvl="0" algn="l"/>
            <a:r>
              <a:rPr lang="es-MX" b="1" dirty="0"/>
              <a:t> </a:t>
            </a:r>
            <a:r>
              <a:rPr lang="es-MX" sz="2800" b="1" dirty="0"/>
              <a:t>Presentación del Módulo</a:t>
            </a:r>
            <a:br>
              <a:rPr lang="es-MX" b="1" dirty="0"/>
            </a:br>
            <a:br>
              <a:rPr lang="es-MX" b="1" dirty="0"/>
            </a:br>
            <a:r>
              <a:rPr lang="es-MX" sz="1400" b="1" dirty="0"/>
              <a:t>- Importancia del Módulo en la formación del Técnico de la Especialidad</a:t>
            </a:r>
            <a:br>
              <a:rPr lang="es-MX" sz="1400" b="1" dirty="0"/>
            </a:br>
            <a:br>
              <a:rPr lang="es-MX" sz="1400" b="1" dirty="0"/>
            </a:br>
            <a:br>
              <a:rPr lang="es-MX" sz="1400" b="1" dirty="0"/>
            </a:br>
            <a:br>
              <a:rPr lang="es-MX" sz="1400" b="1" dirty="0"/>
            </a:br>
            <a:r>
              <a:rPr lang="es-ES" sz="2000" dirty="0"/>
              <a:t>Este módulo de 228 horas pedagógicas, tiene por objetivo que los y las estudiantes desarrollen los conocimientos y las habilidades necesarias para efectuar una instalación o configuración de sistemas básicos de comunicación inalámbrica (como enlaces básicos y una red inalámbrica local), de acuerdo a las tecnologías, protocolos y estándares de la industria. El propósito de este módulo es que cada estudiante sea capaz de instalar, configurar y mantener sistemas inalámbricos básicos de voz, datos e imagen, verificando parámetros de los equipos y dispositivos que forman parte de ellas; analizar diagramas y planos de instalaciones de enlaces y redes inalámbricas; características del espectro radioeléctrico y su regulación identificando estándares de comunicación inalámbricos ITU –R, la regulación de la </a:t>
            </a:r>
            <a:r>
              <a:rPr lang="es-ES" sz="2000" dirty="0" err="1"/>
              <a:t>Subtel</a:t>
            </a:r>
            <a:r>
              <a:rPr lang="es-ES" sz="2000" dirty="0"/>
              <a:t> </a:t>
            </a:r>
            <a:br>
              <a:rPr lang="es-MX" sz="2000" b="1" dirty="0"/>
            </a:br>
            <a:br>
              <a:rPr lang="es-ES" sz="2000" b="1" dirty="0"/>
            </a:br>
            <a:br>
              <a:rPr lang="es-MX" sz="1400" b="1" dirty="0"/>
            </a:br>
            <a:br>
              <a:rPr lang="es-MX" sz="1400" b="1" dirty="0"/>
            </a:br>
            <a:br>
              <a:rPr lang="es-MX" sz="1400" b="1" dirty="0"/>
            </a:br>
            <a:endParaRPr sz="14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1"/>
          <p:cNvSpPr txBox="1">
            <a:spLocks noGrp="1"/>
          </p:cNvSpPr>
          <p:nvPr>
            <p:ph type="title"/>
          </p:nvPr>
        </p:nvSpPr>
        <p:spPr>
          <a:xfrm>
            <a:off x="285460" y="238413"/>
            <a:ext cx="10972800" cy="733647"/>
          </a:xfrm>
          <a:prstGeom prst="rect">
            <a:avLst/>
          </a:prstGeom>
          <a:noFill/>
          <a:ln>
            <a:noFill/>
          </a:ln>
        </p:spPr>
        <p:txBody>
          <a:bodyPr spcFirstLastPara="1" wrap="square" lIns="91425" tIns="45700" rIns="91425" bIns="45700" anchor="t" anchorCtr="0">
            <a:noAutofit/>
          </a:bodyPr>
          <a:lstStyle/>
          <a:p>
            <a:pPr lvl="0" algn="l"/>
            <a:r>
              <a:rPr lang="es-MX" b="1" dirty="0"/>
              <a:t> </a:t>
            </a:r>
            <a:r>
              <a:rPr lang="es-MX" sz="2000" b="1" dirty="0"/>
              <a:t>Presentación del Módulo</a:t>
            </a:r>
            <a:br>
              <a:rPr lang="es-MX" b="1" dirty="0"/>
            </a:br>
            <a:br>
              <a:rPr lang="es-MX" sz="1400" b="1" dirty="0"/>
            </a:br>
            <a:r>
              <a:rPr lang="es-MX" sz="1400" b="1" dirty="0"/>
              <a:t>    </a:t>
            </a:r>
            <a:br>
              <a:rPr lang="es-MX" sz="1400" b="1" dirty="0"/>
            </a:br>
            <a:r>
              <a:rPr lang="es-ES" sz="1800" b="1" dirty="0">
                <a:solidFill>
                  <a:srgbClr val="00B050"/>
                </a:solidFill>
              </a:rPr>
              <a:t>AE 1 </a:t>
            </a:r>
            <a:br>
              <a:rPr lang="es-ES" sz="1800" b="1" dirty="0">
                <a:solidFill>
                  <a:srgbClr val="00B050"/>
                </a:solidFill>
              </a:rPr>
            </a:br>
            <a:br>
              <a:rPr lang="es-ES" sz="1800" b="1" dirty="0">
                <a:solidFill>
                  <a:srgbClr val="00B050"/>
                </a:solidFill>
              </a:rPr>
            </a:br>
            <a:r>
              <a:rPr lang="es-ES" sz="1800" b="1" dirty="0">
                <a:solidFill>
                  <a:srgbClr val="00B050"/>
                </a:solidFill>
              </a:rPr>
              <a:t>Instala un enlace y/o una red inalámbrica, cumpliendo con los protocolos de instalación del proyecto, </a:t>
            </a:r>
            <a:br>
              <a:rPr lang="es-ES" sz="1800" b="1" dirty="0">
                <a:solidFill>
                  <a:srgbClr val="00B050"/>
                </a:solidFill>
              </a:rPr>
            </a:br>
            <a:r>
              <a:rPr lang="es-ES" sz="1800" b="1" dirty="0">
                <a:solidFill>
                  <a:srgbClr val="00B050"/>
                </a:solidFill>
              </a:rPr>
              <a:t>los estándares de la industria y las normas de seguridad.</a:t>
            </a:r>
            <a:br>
              <a:rPr lang="es-ES" sz="1400" b="1" dirty="0"/>
            </a:br>
            <a:br>
              <a:rPr lang="es-ES" sz="1400" b="1" dirty="0"/>
            </a:br>
            <a:r>
              <a:rPr lang="es-ES" sz="1400" b="1" dirty="0">
                <a:solidFill>
                  <a:srgbClr val="0070C0"/>
                </a:solidFill>
              </a:rPr>
              <a:t>1.1 Examina el lugar de instalación de la red, de acuerdo a los planos y revisa los requerimientos técnicos del proyecto aplicando procedimientos   </a:t>
            </a:r>
            <a:br>
              <a:rPr lang="es-ES" sz="1400" b="1" dirty="0">
                <a:solidFill>
                  <a:srgbClr val="0070C0"/>
                </a:solidFill>
              </a:rPr>
            </a:br>
            <a:r>
              <a:rPr lang="es-ES" sz="1400" b="1" dirty="0">
                <a:solidFill>
                  <a:srgbClr val="0070C0"/>
                </a:solidFill>
              </a:rPr>
              <a:t>      establecidos.</a:t>
            </a:r>
            <a:br>
              <a:rPr lang="es-ES" sz="1400" b="1" dirty="0">
                <a:solidFill>
                  <a:srgbClr val="0070C0"/>
                </a:solidFill>
              </a:rPr>
            </a:br>
            <a:br>
              <a:rPr lang="es-ES" sz="1400" b="1" dirty="0">
                <a:solidFill>
                  <a:srgbClr val="0070C0"/>
                </a:solidFill>
              </a:rPr>
            </a:br>
            <a:r>
              <a:rPr lang="es-ES" sz="1400" b="1" dirty="0">
                <a:solidFill>
                  <a:srgbClr val="0070C0"/>
                </a:solidFill>
              </a:rPr>
              <a:t>1.2 Instala los equipos y dispositivos de transmisión y recepción inalámbricos, de acuerdo a los requerimientos técnicos planteados en el proyecto </a:t>
            </a:r>
            <a:br>
              <a:rPr lang="es-ES" sz="1400" b="1" dirty="0">
                <a:solidFill>
                  <a:srgbClr val="0070C0"/>
                </a:solidFill>
              </a:rPr>
            </a:br>
            <a:r>
              <a:rPr lang="es-ES" sz="1400" b="1" dirty="0">
                <a:solidFill>
                  <a:srgbClr val="0070C0"/>
                </a:solidFill>
              </a:rPr>
              <a:t>       y a las especificaciones técnicas del fabricante, cumpliendo con los parámetros de calidad y seguridad.</a:t>
            </a:r>
            <a:br>
              <a:rPr lang="es-ES" sz="1400" b="1" dirty="0">
                <a:solidFill>
                  <a:srgbClr val="0070C0"/>
                </a:solidFill>
              </a:rPr>
            </a:br>
            <a:br>
              <a:rPr lang="es-ES" sz="1400" b="1" dirty="0">
                <a:solidFill>
                  <a:srgbClr val="0070C0"/>
                </a:solidFill>
              </a:rPr>
            </a:br>
            <a:r>
              <a:rPr lang="es-ES" sz="1400" b="1" dirty="0">
                <a:solidFill>
                  <a:srgbClr val="0070C0"/>
                </a:solidFill>
              </a:rPr>
              <a:t>1.3 Utiliza las herramientas, software e instrumentos durante la instalación de la red inalámbrica, de acuerdo a las especificaciones del manual de </a:t>
            </a:r>
            <a:br>
              <a:rPr lang="es-ES" sz="1400" b="1" dirty="0">
                <a:solidFill>
                  <a:srgbClr val="0070C0"/>
                </a:solidFill>
              </a:rPr>
            </a:br>
            <a:r>
              <a:rPr lang="es-ES" sz="1400" b="1" dirty="0">
                <a:solidFill>
                  <a:srgbClr val="0070C0"/>
                </a:solidFill>
              </a:rPr>
              <a:t>       instalación.</a:t>
            </a:r>
            <a:br>
              <a:rPr lang="es-ES" sz="1400" b="1" dirty="0">
                <a:solidFill>
                  <a:srgbClr val="0070C0"/>
                </a:solidFill>
              </a:rPr>
            </a:br>
            <a:br>
              <a:rPr lang="es-ES" sz="1400" b="1" dirty="0">
                <a:solidFill>
                  <a:srgbClr val="0070C0"/>
                </a:solidFill>
              </a:rPr>
            </a:br>
            <a:r>
              <a:rPr lang="es-ES" sz="1400" b="1" dirty="0">
                <a:solidFill>
                  <a:srgbClr val="0070C0"/>
                </a:solidFill>
              </a:rPr>
              <a:t>1.4 Efectúa pruebas de directividad y ganancia de los enlaces de una red inalámbrica, según las especificaciones técnicas del proyecto.</a:t>
            </a:r>
            <a:br>
              <a:rPr lang="es-ES" sz="1400" b="1" dirty="0">
                <a:solidFill>
                  <a:srgbClr val="0070C0"/>
                </a:solidFill>
              </a:rPr>
            </a:br>
            <a:br>
              <a:rPr lang="es-ES" sz="1400" b="1" dirty="0">
                <a:solidFill>
                  <a:srgbClr val="0070C0"/>
                </a:solidFill>
              </a:rPr>
            </a:br>
            <a:br>
              <a:rPr lang="es-ES" sz="1400" b="1" dirty="0">
                <a:solidFill>
                  <a:srgbClr val="0070C0"/>
                </a:solidFill>
              </a:rPr>
            </a:br>
            <a:br>
              <a:rPr lang="es-MX" sz="1400" b="1" dirty="0"/>
            </a:br>
            <a:br>
              <a:rPr lang="es-MX" sz="1400" b="1" dirty="0"/>
            </a:br>
            <a:endParaRPr sz="1400" b="1" dirty="0"/>
          </a:p>
        </p:txBody>
      </p:sp>
    </p:spTree>
    <p:extLst>
      <p:ext uri="{BB962C8B-B14F-4D97-AF65-F5344CB8AC3E}">
        <p14:creationId xmlns:p14="http://schemas.microsoft.com/office/powerpoint/2010/main" val="18434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1"/>
          <p:cNvSpPr txBox="1">
            <a:spLocks noGrp="1"/>
          </p:cNvSpPr>
          <p:nvPr>
            <p:ph type="title"/>
          </p:nvPr>
        </p:nvSpPr>
        <p:spPr>
          <a:xfrm>
            <a:off x="285460" y="238413"/>
            <a:ext cx="10972800" cy="733647"/>
          </a:xfrm>
          <a:prstGeom prst="rect">
            <a:avLst/>
          </a:prstGeom>
          <a:noFill/>
          <a:ln>
            <a:noFill/>
          </a:ln>
        </p:spPr>
        <p:txBody>
          <a:bodyPr spcFirstLastPara="1" wrap="square" lIns="91425" tIns="45700" rIns="91425" bIns="45700" anchor="t" anchorCtr="0">
            <a:noAutofit/>
          </a:bodyPr>
          <a:lstStyle/>
          <a:p>
            <a:pPr lvl="0" algn="l"/>
            <a:r>
              <a:rPr lang="es-MX" b="1" dirty="0"/>
              <a:t> </a:t>
            </a:r>
            <a:r>
              <a:rPr lang="es-MX" sz="2000" b="1" dirty="0"/>
              <a:t>Presentación del Módulo</a:t>
            </a:r>
            <a:br>
              <a:rPr lang="es-MX" b="1" dirty="0"/>
            </a:br>
            <a:r>
              <a:rPr lang="es-MX" sz="1800" b="1" dirty="0"/>
              <a:t>- </a:t>
            </a:r>
            <a:r>
              <a:rPr lang="es-MX" sz="1800" b="1" dirty="0">
                <a:solidFill>
                  <a:srgbClr val="00B050"/>
                </a:solidFill>
              </a:rPr>
              <a:t>AE 2   </a:t>
            </a:r>
            <a:r>
              <a:rPr lang="es-ES" sz="1800" b="1" dirty="0">
                <a:solidFill>
                  <a:srgbClr val="00B050"/>
                </a:solidFill>
              </a:rPr>
              <a:t>Configura un enlace y/o una red inalámbrica, de acuerdo a los requerimientos del proyecto, </a:t>
            </a:r>
            <a:br>
              <a:rPr lang="es-ES" sz="1800" b="1" dirty="0">
                <a:solidFill>
                  <a:srgbClr val="00B050"/>
                </a:solidFill>
              </a:rPr>
            </a:br>
            <a:r>
              <a:rPr lang="es-ES" sz="1800" b="1" dirty="0">
                <a:solidFill>
                  <a:srgbClr val="00B050"/>
                </a:solidFill>
              </a:rPr>
              <a:t>    estándares de la industria y las normas de seguridad.</a:t>
            </a:r>
            <a:br>
              <a:rPr lang="es-ES" sz="1400" b="1" dirty="0">
                <a:solidFill>
                  <a:srgbClr val="00B050"/>
                </a:solidFill>
              </a:rPr>
            </a:br>
            <a:br>
              <a:rPr lang="es-ES" sz="1400" b="1" dirty="0">
                <a:solidFill>
                  <a:srgbClr val="00B050"/>
                </a:solidFill>
              </a:rPr>
            </a:br>
            <a:r>
              <a:rPr lang="es-ES" sz="1600" b="1" dirty="0">
                <a:solidFill>
                  <a:srgbClr val="0070C0"/>
                </a:solidFill>
              </a:rPr>
              <a:t>2.1 Configura una red de área local inalámbrica, cumpliendo con los parámetros de calidad y siguiendo las especificaciones</a:t>
            </a:r>
            <a:br>
              <a:rPr lang="es-ES" sz="1600" b="1" dirty="0">
                <a:solidFill>
                  <a:srgbClr val="0070C0"/>
                </a:solidFill>
              </a:rPr>
            </a:br>
            <a:r>
              <a:rPr lang="es-ES" sz="1600" b="1" dirty="0">
                <a:solidFill>
                  <a:srgbClr val="0070C0"/>
                </a:solidFill>
              </a:rPr>
              <a:t>      del fabricante y los requisitos del proyecto.</a:t>
            </a:r>
            <a:br>
              <a:rPr lang="es-ES" sz="1600" b="1" dirty="0">
                <a:solidFill>
                  <a:srgbClr val="0070C0"/>
                </a:solidFill>
              </a:rPr>
            </a:br>
            <a:br>
              <a:rPr lang="es-ES" sz="1600" b="1" dirty="0">
                <a:solidFill>
                  <a:srgbClr val="0070C0"/>
                </a:solidFill>
              </a:rPr>
            </a:br>
            <a:r>
              <a:rPr lang="es-ES" sz="1600" b="1" dirty="0">
                <a:solidFill>
                  <a:srgbClr val="0070C0"/>
                </a:solidFill>
              </a:rPr>
              <a:t>2.2 Orienta las antenas para obtener la máxima ganancia, comprobando por medio de instrumentos que </a:t>
            </a:r>
            <a:br>
              <a:rPr lang="es-ES" sz="1600" b="1" dirty="0">
                <a:solidFill>
                  <a:srgbClr val="0070C0"/>
                </a:solidFill>
              </a:rPr>
            </a:br>
            <a:r>
              <a:rPr lang="es-ES" sz="1600" b="1" dirty="0">
                <a:solidFill>
                  <a:srgbClr val="0070C0"/>
                </a:solidFill>
              </a:rPr>
              <a:t>     cumplen con las especificaciones técnicas del proyecto.</a:t>
            </a:r>
            <a:br>
              <a:rPr lang="es-ES" sz="1600" b="1" dirty="0">
                <a:solidFill>
                  <a:srgbClr val="0070C0"/>
                </a:solidFill>
              </a:rPr>
            </a:br>
            <a:br>
              <a:rPr lang="es-ES" sz="1600" b="1" dirty="0">
                <a:solidFill>
                  <a:srgbClr val="0070C0"/>
                </a:solidFill>
              </a:rPr>
            </a:br>
            <a:r>
              <a:rPr lang="es-ES" sz="1600" b="1" dirty="0">
                <a:solidFill>
                  <a:srgbClr val="0070C0"/>
                </a:solidFill>
              </a:rPr>
              <a:t>2.3 Configura los parámetros de los equipos de comunicación inalámbrica (repetidores, transmisores, etc.), según requerimientos del proyecto y las especificaciones del fabricante.</a:t>
            </a:r>
            <a:br>
              <a:rPr lang="es-ES" sz="1600" b="1" dirty="0">
                <a:solidFill>
                  <a:srgbClr val="0070C0"/>
                </a:solidFill>
              </a:rPr>
            </a:br>
            <a:br>
              <a:rPr lang="es-ES" sz="1600" b="1" dirty="0">
                <a:solidFill>
                  <a:srgbClr val="0070C0"/>
                </a:solidFill>
              </a:rPr>
            </a:br>
            <a:r>
              <a:rPr lang="es-ES" sz="1600" b="1" dirty="0">
                <a:solidFill>
                  <a:srgbClr val="0070C0"/>
                </a:solidFill>
              </a:rPr>
              <a:t>2.4 Comprueba la configuración de los equipos de comunicación inalámbrica en función los requerimientos del proyecto.</a:t>
            </a:r>
            <a:br>
              <a:rPr lang="es-ES" sz="1600" b="1" dirty="0">
                <a:solidFill>
                  <a:srgbClr val="0070C0"/>
                </a:solidFill>
              </a:rPr>
            </a:br>
            <a:br>
              <a:rPr lang="es-ES" sz="1600" b="1" dirty="0">
                <a:solidFill>
                  <a:srgbClr val="0070C0"/>
                </a:solidFill>
              </a:rPr>
            </a:br>
            <a:br>
              <a:rPr lang="es-ES" sz="1400" b="1" dirty="0"/>
            </a:br>
            <a:br>
              <a:rPr lang="es-MX" sz="1400" b="1" dirty="0"/>
            </a:br>
            <a:br>
              <a:rPr lang="es-MX" sz="1400" b="1" dirty="0"/>
            </a:br>
            <a:br>
              <a:rPr lang="es-MX" sz="1400" b="1" dirty="0"/>
            </a:br>
            <a:br>
              <a:rPr lang="es-MX" sz="1400" b="1" dirty="0"/>
            </a:br>
            <a:endParaRPr sz="1400" b="1" dirty="0"/>
          </a:p>
        </p:txBody>
      </p:sp>
    </p:spTree>
    <p:extLst>
      <p:ext uri="{BB962C8B-B14F-4D97-AF65-F5344CB8AC3E}">
        <p14:creationId xmlns:p14="http://schemas.microsoft.com/office/powerpoint/2010/main" val="4262039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1"/>
          <p:cNvSpPr txBox="1">
            <a:spLocks noGrp="1"/>
          </p:cNvSpPr>
          <p:nvPr>
            <p:ph type="title"/>
          </p:nvPr>
        </p:nvSpPr>
        <p:spPr>
          <a:xfrm>
            <a:off x="285460" y="238413"/>
            <a:ext cx="10972800" cy="733647"/>
          </a:xfrm>
          <a:prstGeom prst="rect">
            <a:avLst/>
          </a:prstGeom>
          <a:noFill/>
          <a:ln>
            <a:noFill/>
          </a:ln>
        </p:spPr>
        <p:txBody>
          <a:bodyPr spcFirstLastPara="1" wrap="square" lIns="91425" tIns="45700" rIns="91425" bIns="45700" anchor="t" anchorCtr="0">
            <a:noAutofit/>
          </a:bodyPr>
          <a:lstStyle/>
          <a:p>
            <a:pPr lvl="0" algn="l"/>
            <a:r>
              <a:rPr lang="es-MX" b="1" dirty="0"/>
              <a:t> </a:t>
            </a:r>
            <a:r>
              <a:rPr lang="es-MX" sz="2000" b="1" dirty="0"/>
              <a:t>Presentación del Módulo</a:t>
            </a:r>
            <a:br>
              <a:rPr lang="es-MX" b="1" dirty="0"/>
            </a:br>
            <a:r>
              <a:rPr lang="es-MX" sz="1800" b="1" dirty="0"/>
              <a:t>- </a:t>
            </a:r>
            <a:r>
              <a:rPr lang="es-MX" sz="1800" b="1" dirty="0">
                <a:solidFill>
                  <a:srgbClr val="00B050"/>
                </a:solidFill>
              </a:rPr>
              <a:t>AE 3</a:t>
            </a:r>
            <a:br>
              <a:rPr lang="es-MX" sz="1800" b="1" dirty="0">
                <a:solidFill>
                  <a:srgbClr val="00B050"/>
                </a:solidFill>
              </a:rPr>
            </a:br>
            <a:r>
              <a:rPr lang="es-ES" sz="1800" b="1" dirty="0">
                <a:solidFill>
                  <a:srgbClr val="00B050"/>
                </a:solidFill>
              </a:rPr>
              <a:t>3.1 Verifica el funcionamiento y chequea la seguridad de la información en redes inalámbricas según los estándares de autentificación y encriptación, los requerimientos del proyecto y los protocolos de la industria. </a:t>
            </a:r>
            <a:br>
              <a:rPr lang="es-ES" sz="1800" b="1" dirty="0">
                <a:solidFill>
                  <a:srgbClr val="00B050"/>
                </a:solidFill>
              </a:rPr>
            </a:br>
            <a:br>
              <a:rPr lang="es-ES" sz="1800" b="1" dirty="0">
                <a:solidFill>
                  <a:srgbClr val="00B050"/>
                </a:solidFill>
              </a:rPr>
            </a:br>
            <a:br>
              <a:rPr lang="es-ES" sz="1400" b="1" dirty="0"/>
            </a:br>
            <a:r>
              <a:rPr lang="es-ES" sz="1400" b="1" dirty="0"/>
              <a:t>3.1 aplica técnicas de seguridad estandarizadas (</a:t>
            </a:r>
            <a:r>
              <a:rPr lang="es-ES" sz="1400" b="1" dirty="0" err="1"/>
              <a:t>WaP</a:t>
            </a:r>
            <a:r>
              <a:rPr lang="es-ES" sz="1400" b="1" dirty="0"/>
              <a:t> y 802.11x) en una red inalámbrica con el propósito de mantener la integridad de los datos, según los requerimientos del usuario. </a:t>
            </a:r>
            <a:br>
              <a:rPr lang="es-ES" sz="1400" b="1" dirty="0"/>
            </a:br>
            <a:br>
              <a:rPr lang="es-ES" sz="1400" b="1" dirty="0"/>
            </a:br>
            <a:r>
              <a:rPr lang="es-ES" sz="1400" b="1" dirty="0"/>
              <a:t>3.2 Comprueba el funcionamiento del software de seguridad instalado en los equipos de una red inalámbrica realizando pruebas mediante un protocolo establecido.</a:t>
            </a:r>
            <a:br>
              <a:rPr lang="es-ES" sz="1400" b="1" dirty="0"/>
            </a:br>
            <a:br>
              <a:rPr lang="es-ES" sz="1400" b="1" dirty="0"/>
            </a:br>
            <a:r>
              <a:rPr lang="es-ES" sz="1400" b="1" dirty="0"/>
              <a:t>3.3 Verifica los parámetros de conectividad y transmisión, utilizando los instrumentos de prueba básicos y aplicando procedimientos de medición estandarizados.</a:t>
            </a:r>
            <a:br>
              <a:rPr lang="es-ES" sz="1400" b="1" dirty="0"/>
            </a:br>
            <a:br>
              <a:rPr lang="es-ES" sz="1400" b="1" dirty="0"/>
            </a:br>
            <a:r>
              <a:rPr lang="es-ES" sz="1400" b="1" dirty="0"/>
              <a:t>3.4 Elabora informes técnicos de la instalación y pruebas de equipos de comunicaciones inalámbricas, de acuerdo a protocolos establecidos y en formato normalizado.</a:t>
            </a:r>
            <a:br>
              <a:rPr lang="es-MX" sz="1400" b="1" dirty="0"/>
            </a:br>
            <a:br>
              <a:rPr lang="es-MX" sz="1400" b="1" dirty="0"/>
            </a:br>
            <a:br>
              <a:rPr lang="es-MX" sz="1400" b="1" dirty="0"/>
            </a:br>
            <a:br>
              <a:rPr lang="es-MX" sz="1400" b="1" dirty="0"/>
            </a:br>
            <a:endParaRPr sz="1400" b="1" dirty="0"/>
          </a:p>
        </p:txBody>
      </p:sp>
    </p:spTree>
    <p:extLst>
      <p:ext uri="{BB962C8B-B14F-4D97-AF65-F5344CB8AC3E}">
        <p14:creationId xmlns:p14="http://schemas.microsoft.com/office/powerpoint/2010/main" val="3310021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1"/>
          <p:cNvSpPr txBox="1">
            <a:spLocks noGrp="1"/>
          </p:cNvSpPr>
          <p:nvPr>
            <p:ph type="title"/>
          </p:nvPr>
        </p:nvSpPr>
        <p:spPr>
          <a:xfrm>
            <a:off x="285460" y="238413"/>
            <a:ext cx="10972800" cy="733647"/>
          </a:xfrm>
          <a:prstGeom prst="rect">
            <a:avLst/>
          </a:prstGeom>
          <a:noFill/>
          <a:ln>
            <a:noFill/>
          </a:ln>
        </p:spPr>
        <p:txBody>
          <a:bodyPr spcFirstLastPara="1" wrap="square" lIns="91425" tIns="45700" rIns="91425" bIns="45700" anchor="t" anchorCtr="0">
            <a:noAutofit/>
          </a:bodyPr>
          <a:lstStyle/>
          <a:p>
            <a:pPr lvl="0" algn="l"/>
            <a:r>
              <a:rPr lang="es-MX" b="1" dirty="0"/>
              <a:t> </a:t>
            </a:r>
            <a:r>
              <a:rPr lang="es-MX" sz="2000" b="1" dirty="0"/>
              <a:t>Presentación del Módulo</a:t>
            </a:r>
            <a:br>
              <a:rPr lang="es-MX" b="1" dirty="0"/>
            </a:br>
            <a:r>
              <a:rPr lang="es-MX" sz="1800" b="1" dirty="0"/>
              <a:t>- </a:t>
            </a:r>
            <a:r>
              <a:rPr lang="es-MX" sz="1800" b="1" dirty="0">
                <a:solidFill>
                  <a:srgbClr val="00B050"/>
                </a:solidFill>
              </a:rPr>
              <a:t>AE 4</a:t>
            </a:r>
            <a:br>
              <a:rPr lang="es-MX" sz="1800" b="1" dirty="0">
                <a:solidFill>
                  <a:srgbClr val="00B050"/>
                </a:solidFill>
              </a:rPr>
            </a:br>
            <a:r>
              <a:rPr lang="es-MX" sz="1800" b="1" dirty="0">
                <a:solidFill>
                  <a:srgbClr val="00B050"/>
                </a:solidFill>
              </a:rPr>
              <a:t>A</a:t>
            </a:r>
            <a:r>
              <a:rPr lang="es-ES" sz="1800" b="1" dirty="0">
                <a:solidFill>
                  <a:srgbClr val="00B050"/>
                </a:solidFill>
              </a:rPr>
              <a:t>plica procedimientos de trabajo seguro al montaje de sistemas y equipos de telecomunicaciones, de acuerdo a protocolos establecidos y normas de seguridad y medioambientales del proyecto. </a:t>
            </a:r>
            <a:br>
              <a:rPr lang="es-ES" sz="1800" b="1" dirty="0">
                <a:solidFill>
                  <a:srgbClr val="00B050"/>
                </a:solidFill>
              </a:rPr>
            </a:br>
            <a:br>
              <a:rPr lang="es-ES" sz="1800" b="1" dirty="0">
                <a:solidFill>
                  <a:srgbClr val="00B050"/>
                </a:solidFill>
              </a:rPr>
            </a:br>
            <a:r>
              <a:rPr lang="es-ES" sz="1800" b="1" dirty="0">
                <a:solidFill>
                  <a:schemeClr val="tx1"/>
                </a:solidFill>
              </a:rPr>
              <a:t>Criterios de evaluación</a:t>
            </a:r>
            <a:br>
              <a:rPr lang="es-ES" sz="1800" b="1" dirty="0">
                <a:solidFill>
                  <a:schemeClr val="tx1"/>
                </a:solidFill>
              </a:rPr>
            </a:br>
            <a:br>
              <a:rPr lang="es-ES" sz="1800" b="1" dirty="0">
                <a:solidFill>
                  <a:srgbClr val="00B050"/>
                </a:solidFill>
              </a:rPr>
            </a:br>
            <a:r>
              <a:rPr lang="es-ES" sz="1800" b="1" dirty="0">
                <a:solidFill>
                  <a:schemeClr val="tx1"/>
                </a:solidFill>
              </a:rPr>
              <a:t>4.1 Ejecuta planes de prevención de accidentes laborales en el montaje de sistemas y equipos de telecomunicaciones, de acuerdo a protocolos establecidos y a las normas medioambientales del proyecto.</a:t>
            </a:r>
            <a:br>
              <a:rPr lang="es-ES" sz="1800" b="1" dirty="0">
                <a:solidFill>
                  <a:schemeClr val="tx1"/>
                </a:solidFill>
              </a:rPr>
            </a:br>
            <a:br>
              <a:rPr lang="es-ES" sz="1800" b="1" dirty="0">
                <a:solidFill>
                  <a:schemeClr val="tx1"/>
                </a:solidFill>
              </a:rPr>
            </a:br>
            <a:r>
              <a:rPr lang="es-ES" sz="1800" b="1" dirty="0">
                <a:solidFill>
                  <a:schemeClr val="tx1"/>
                </a:solidFill>
              </a:rPr>
              <a:t>4.2 aplica técnicas para la movilización y el traslado de objetos de acuerdo a los protocolos establecidos y a la normativa de seguridad</a:t>
            </a:r>
            <a:br>
              <a:rPr lang="es-ES" sz="1800" b="1" dirty="0">
                <a:solidFill>
                  <a:schemeClr val="tx1"/>
                </a:solidFill>
              </a:rPr>
            </a:br>
            <a:br>
              <a:rPr lang="es-ES" sz="1800" b="1" dirty="0">
                <a:solidFill>
                  <a:schemeClr val="tx1"/>
                </a:solidFill>
              </a:rPr>
            </a:br>
            <a:r>
              <a:rPr lang="es-ES" sz="1800" b="1" dirty="0">
                <a:solidFill>
                  <a:schemeClr val="tx1"/>
                </a:solidFill>
              </a:rPr>
              <a:t>4.3 Ejecuta planes de prevención de accidentes laborales en el montaje de sistemas y equipos de telecomunicaciones, según los protocolos establecidos y las normas medioambientales necesarias en el proyecto</a:t>
            </a:r>
            <a:br>
              <a:rPr lang="es-MX" sz="1800" b="1" dirty="0">
                <a:solidFill>
                  <a:schemeClr val="tx1"/>
                </a:solidFill>
              </a:rPr>
            </a:br>
            <a:br>
              <a:rPr lang="es-MX" sz="1800" b="1" dirty="0">
                <a:solidFill>
                  <a:schemeClr val="tx1"/>
                </a:solidFill>
              </a:rPr>
            </a:br>
            <a:br>
              <a:rPr lang="es-MX" sz="1400" b="1" dirty="0"/>
            </a:br>
            <a:br>
              <a:rPr lang="es-MX" sz="1400" b="1" dirty="0"/>
            </a:br>
            <a:br>
              <a:rPr lang="es-MX" sz="1400" b="1" dirty="0"/>
            </a:br>
            <a:br>
              <a:rPr lang="es-MX" sz="1400" b="1" dirty="0"/>
            </a:br>
            <a:endParaRPr sz="1400" b="1" dirty="0"/>
          </a:p>
        </p:txBody>
      </p:sp>
    </p:spTree>
    <p:extLst>
      <p:ext uri="{BB962C8B-B14F-4D97-AF65-F5344CB8AC3E}">
        <p14:creationId xmlns:p14="http://schemas.microsoft.com/office/powerpoint/2010/main" val="1546904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5"/>
          <p:cNvSpPr txBox="1">
            <a:spLocks noGrp="1"/>
          </p:cNvSpPr>
          <p:nvPr>
            <p:ph type="title"/>
          </p:nvPr>
        </p:nvSpPr>
        <p:spPr>
          <a:xfrm>
            <a:off x="647699" y="333375"/>
            <a:ext cx="10972800" cy="70485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4400"/>
              <a:buFont typeface="Calibri"/>
              <a:buNone/>
            </a:pPr>
            <a:r>
              <a:rPr lang="es-MX" b="1" dirty="0">
                <a:solidFill>
                  <a:srgbClr val="595959"/>
                </a:solidFill>
              </a:rPr>
              <a:t>Metodología de Trabajo.</a:t>
            </a:r>
            <a:br>
              <a:rPr lang="es-MX" b="1" dirty="0">
                <a:solidFill>
                  <a:srgbClr val="595959"/>
                </a:solidFill>
              </a:rPr>
            </a:br>
            <a:endParaRPr sz="2800" b="1" dirty="0"/>
          </a:p>
        </p:txBody>
      </p:sp>
      <p:sp>
        <p:nvSpPr>
          <p:cNvPr id="123" name="Google Shape;123;p5"/>
          <p:cNvSpPr/>
          <p:nvPr/>
        </p:nvSpPr>
        <p:spPr>
          <a:xfrm>
            <a:off x="647699" y="1676401"/>
            <a:ext cx="9619707" cy="4401164"/>
          </a:xfrm>
          <a:prstGeom prst="rect">
            <a:avLst/>
          </a:prstGeom>
          <a:noFill/>
          <a:ln>
            <a:noFill/>
          </a:ln>
        </p:spPr>
        <p:txBody>
          <a:bodyPr spcFirstLastPara="1" wrap="square" lIns="91425" tIns="45700" rIns="91425" bIns="45700" anchor="t" anchorCtr="0">
            <a:spAutoFit/>
          </a:bodyPr>
          <a:lstStyle/>
          <a:p>
            <a:pPr marL="0" marR="0" lvl="0" indent="-152400" algn="l" rtl="0">
              <a:lnSpc>
                <a:spcPct val="100000"/>
              </a:lnSpc>
              <a:spcBef>
                <a:spcPts val="0"/>
              </a:spcBef>
              <a:spcAft>
                <a:spcPts val="0"/>
              </a:spcAft>
              <a:buClr>
                <a:srgbClr val="000000"/>
              </a:buClr>
              <a:buSzPts val="2400"/>
              <a:buFont typeface="Arial"/>
              <a:buChar char="•"/>
            </a:pPr>
            <a:r>
              <a:rPr lang="es-MX" sz="2400" b="0" i="0" u="none" strike="noStrike" cap="none" dirty="0">
                <a:solidFill>
                  <a:schemeClr val="dk1"/>
                </a:solidFill>
                <a:latin typeface="Calibri"/>
                <a:ea typeface="Calibri"/>
                <a:cs typeface="Calibri"/>
                <a:sym typeface="Calibri"/>
              </a:rPr>
              <a:t>Trabajos grupales.</a:t>
            </a:r>
            <a:endParaRPr sz="1400" b="0" i="0" u="none" strike="noStrike" cap="none" dirty="0">
              <a:solidFill>
                <a:srgbClr val="000000"/>
              </a:solidFill>
              <a:latin typeface="Arial"/>
              <a:ea typeface="Arial"/>
              <a:cs typeface="Arial"/>
              <a:sym typeface="Arial"/>
            </a:endParaRPr>
          </a:p>
          <a:p>
            <a:pPr marL="0" marR="0" lvl="0" indent="-152400" algn="l" rtl="0">
              <a:lnSpc>
                <a:spcPct val="100000"/>
              </a:lnSpc>
              <a:spcBef>
                <a:spcPts val="0"/>
              </a:spcBef>
              <a:spcAft>
                <a:spcPts val="0"/>
              </a:spcAft>
              <a:buClr>
                <a:srgbClr val="000000"/>
              </a:buClr>
              <a:buSzPts val="2400"/>
              <a:buFont typeface="Arial"/>
              <a:buChar char="•"/>
            </a:pPr>
            <a:r>
              <a:rPr lang="es-MX" sz="2400" b="0" i="0" u="none" strike="noStrike" cap="none" dirty="0">
                <a:solidFill>
                  <a:schemeClr val="dk1"/>
                </a:solidFill>
                <a:latin typeface="Calibri"/>
                <a:ea typeface="Calibri"/>
                <a:cs typeface="Calibri"/>
                <a:sym typeface="Calibri"/>
              </a:rPr>
              <a:t>Clases expositivas.</a:t>
            </a:r>
            <a:endParaRPr sz="1400" b="0" i="0" u="none" strike="noStrike" cap="none" dirty="0">
              <a:solidFill>
                <a:srgbClr val="000000"/>
              </a:solidFill>
              <a:latin typeface="Arial"/>
              <a:ea typeface="Arial"/>
              <a:cs typeface="Arial"/>
              <a:sym typeface="Arial"/>
            </a:endParaRPr>
          </a:p>
          <a:p>
            <a:pPr marL="0" marR="0" lvl="0" indent="-152400" algn="l" rtl="0">
              <a:lnSpc>
                <a:spcPct val="100000"/>
              </a:lnSpc>
              <a:spcBef>
                <a:spcPts val="0"/>
              </a:spcBef>
              <a:spcAft>
                <a:spcPts val="0"/>
              </a:spcAft>
              <a:buClr>
                <a:srgbClr val="000000"/>
              </a:buClr>
              <a:buSzPts val="2400"/>
              <a:buFont typeface="Arial"/>
              <a:buChar char="•"/>
            </a:pPr>
            <a:r>
              <a:rPr lang="es-MX" sz="2400" b="0" i="0" u="none" strike="noStrike" cap="none" dirty="0">
                <a:solidFill>
                  <a:schemeClr val="dk1"/>
                </a:solidFill>
                <a:latin typeface="Calibri"/>
                <a:ea typeface="Calibri"/>
                <a:cs typeface="Calibri"/>
                <a:sym typeface="Calibri"/>
              </a:rPr>
              <a:t>Desarrollo de cuestionarios.</a:t>
            </a:r>
            <a:endParaRPr sz="2400" b="0" i="0" u="none" strike="noStrike" cap="none" dirty="0">
              <a:solidFill>
                <a:schemeClr val="dk1"/>
              </a:solidFill>
              <a:latin typeface="Calibri"/>
              <a:ea typeface="Calibri"/>
              <a:cs typeface="Calibri"/>
              <a:sym typeface="Calibri"/>
            </a:endParaRPr>
          </a:p>
          <a:p>
            <a:pPr marL="0" marR="0" lvl="0" indent="-152400" algn="l" rtl="0">
              <a:lnSpc>
                <a:spcPct val="100000"/>
              </a:lnSpc>
              <a:spcBef>
                <a:spcPts val="0"/>
              </a:spcBef>
              <a:spcAft>
                <a:spcPts val="0"/>
              </a:spcAft>
              <a:buClr>
                <a:srgbClr val="000000"/>
              </a:buClr>
              <a:buSzPts val="2400"/>
              <a:buFont typeface="Arial"/>
              <a:buChar char="•"/>
            </a:pPr>
            <a:r>
              <a:rPr lang="es-MX" sz="2400" b="0" i="0" u="none" strike="noStrike" cap="none" dirty="0">
                <a:solidFill>
                  <a:schemeClr val="dk1"/>
                </a:solidFill>
                <a:latin typeface="Calibri"/>
                <a:ea typeface="Calibri"/>
                <a:cs typeface="Calibri"/>
                <a:sym typeface="Calibri"/>
              </a:rPr>
              <a:t>Disertaciones.</a:t>
            </a:r>
            <a:endParaRPr sz="2400" b="0" i="0" u="none" strike="noStrike" cap="none" dirty="0">
              <a:solidFill>
                <a:schemeClr val="dk1"/>
              </a:solidFill>
              <a:latin typeface="Calibri"/>
              <a:ea typeface="Calibri"/>
              <a:cs typeface="Calibri"/>
              <a:sym typeface="Calibri"/>
            </a:endParaRPr>
          </a:p>
          <a:p>
            <a:pPr marL="0" marR="0" lvl="0" indent="-152400" algn="l" rtl="0">
              <a:lnSpc>
                <a:spcPct val="100000"/>
              </a:lnSpc>
              <a:spcBef>
                <a:spcPts val="0"/>
              </a:spcBef>
              <a:spcAft>
                <a:spcPts val="0"/>
              </a:spcAft>
              <a:buClr>
                <a:srgbClr val="000000"/>
              </a:buClr>
              <a:buSzPts val="2400"/>
              <a:buFont typeface="Arial"/>
              <a:buChar char="•"/>
            </a:pPr>
            <a:r>
              <a:rPr lang="es-MX" sz="2400" b="0" i="0" u="none" strike="noStrike" cap="none" dirty="0">
                <a:solidFill>
                  <a:schemeClr val="dk1"/>
                </a:solidFill>
                <a:latin typeface="Calibri"/>
                <a:ea typeface="Calibri"/>
                <a:cs typeface="Calibri"/>
                <a:sym typeface="Calibri"/>
              </a:rPr>
              <a:t>Trabajo autónomo por parte del estudiante.</a:t>
            </a:r>
            <a:endParaRPr sz="1400" b="0" i="0" u="none" strike="noStrike" cap="none" dirty="0">
              <a:solidFill>
                <a:srgbClr val="000000"/>
              </a:solidFill>
              <a:latin typeface="Arial"/>
              <a:ea typeface="Arial"/>
              <a:cs typeface="Arial"/>
              <a:sym typeface="Arial"/>
            </a:endParaRPr>
          </a:p>
          <a:p>
            <a:pPr marL="0" marR="0" lvl="0" indent="-152400" algn="l" rtl="0">
              <a:lnSpc>
                <a:spcPct val="100000"/>
              </a:lnSpc>
              <a:spcBef>
                <a:spcPts val="0"/>
              </a:spcBef>
              <a:spcAft>
                <a:spcPts val="0"/>
              </a:spcAft>
              <a:buClr>
                <a:srgbClr val="000000"/>
              </a:buClr>
              <a:buSzPts val="2400"/>
              <a:buFont typeface="Arial"/>
              <a:buChar char="•"/>
            </a:pPr>
            <a:r>
              <a:rPr lang="es-MX" sz="2400" b="0" i="0" u="none" strike="noStrike" cap="none" dirty="0">
                <a:solidFill>
                  <a:schemeClr val="dk1"/>
                </a:solidFill>
                <a:latin typeface="Calibri"/>
                <a:ea typeface="Calibri"/>
                <a:cs typeface="Calibri"/>
                <a:sym typeface="Calibri"/>
              </a:rPr>
              <a:t> Resolución de guías de trabajo.</a:t>
            </a:r>
            <a:endParaRPr sz="1400" b="0" i="0" u="none" strike="noStrike" cap="none" dirty="0">
              <a:solidFill>
                <a:srgbClr val="000000"/>
              </a:solidFill>
              <a:latin typeface="Arial"/>
              <a:ea typeface="Arial"/>
              <a:cs typeface="Arial"/>
              <a:sym typeface="Arial"/>
            </a:endParaRPr>
          </a:p>
          <a:p>
            <a:pPr marL="0" marR="0" lvl="0" indent="-152400" algn="l" rtl="0">
              <a:lnSpc>
                <a:spcPct val="100000"/>
              </a:lnSpc>
              <a:spcBef>
                <a:spcPts val="0"/>
              </a:spcBef>
              <a:spcAft>
                <a:spcPts val="0"/>
              </a:spcAft>
              <a:buClr>
                <a:schemeClr val="dk1"/>
              </a:buClr>
              <a:buSzPts val="2400"/>
              <a:buFont typeface="Calibri"/>
              <a:buChar char="•"/>
            </a:pPr>
            <a:r>
              <a:rPr lang="es-MX" sz="2400" b="0" i="0" u="none" strike="noStrike" cap="none" dirty="0">
                <a:solidFill>
                  <a:schemeClr val="dk1"/>
                </a:solidFill>
                <a:latin typeface="Calibri"/>
                <a:ea typeface="Calibri"/>
                <a:cs typeface="Calibri"/>
                <a:sym typeface="Calibri"/>
              </a:rPr>
              <a:t>Uso de la plataforma Netacad de cisco.-</a:t>
            </a:r>
            <a:endParaRPr lang="es-MX" sz="2400" dirty="0">
              <a:solidFill>
                <a:schemeClr val="dk1"/>
              </a:solidFill>
              <a:latin typeface="Calibri"/>
              <a:ea typeface="Calibri"/>
              <a:cs typeface="Calibri"/>
              <a:sym typeface="Calibri"/>
            </a:endParaRPr>
          </a:p>
          <a:p>
            <a:pPr marL="0" marR="0" lvl="0" indent="-152400" algn="l" rtl="0">
              <a:lnSpc>
                <a:spcPct val="100000"/>
              </a:lnSpc>
              <a:spcBef>
                <a:spcPts val="0"/>
              </a:spcBef>
              <a:spcAft>
                <a:spcPts val="0"/>
              </a:spcAft>
              <a:buClr>
                <a:schemeClr val="dk1"/>
              </a:buClr>
              <a:buSzPts val="2400"/>
              <a:buFont typeface="Calibri"/>
              <a:buChar char="•"/>
            </a:pPr>
            <a:r>
              <a:rPr sz="2400" b="0" i="0" u="none" strike="noStrike" cap="none" dirty="0">
                <a:solidFill>
                  <a:schemeClr val="dk1"/>
                </a:solidFill>
                <a:latin typeface="Calibri"/>
                <a:ea typeface="Calibri"/>
                <a:cs typeface="Calibri"/>
                <a:sym typeface="Calibri"/>
              </a:rPr>
              <a:t> </a:t>
            </a:r>
            <a:r>
              <a:rPr lang="es-MX" sz="2400" b="0" i="0" u="none" strike="noStrike" cap="none" dirty="0">
                <a:solidFill>
                  <a:schemeClr val="dk1"/>
                </a:solidFill>
                <a:latin typeface="Calibri"/>
                <a:ea typeface="Calibri"/>
                <a:cs typeface="Calibri"/>
                <a:sym typeface="Calibri"/>
              </a:rPr>
              <a:t>Trabajo con material didáctico/material concreto.</a:t>
            </a:r>
            <a:endParaRPr sz="2400" b="0" i="0" u="none" strike="noStrike" cap="none" dirty="0">
              <a:solidFill>
                <a:schemeClr val="dk1"/>
              </a:solidFill>
              <a:latin typeface="Calibri"/>
              <a:ea typeface="Calibri"/>
              <a:cs typeface="Calibri"/>
              <a:sym typeface="Calibri"/>
            </a:endParaRPr>
          </a:p>
          <a:p>
            <a:pPr marL="0" marR="0" lvl="0" indent="-152400" algn="l" rtl="0">
              <a:lnSpc>
                <a:spcPct val="100000"/>
              </a:lnSpc>
              <a:spcBef>
                <a:spcPts val="0"/>
              </a:spcBef>
              <a:spcAft>
                <a:spcPts val="0"/>
              </a:spcAft>
              <a:buClr>
                <a:srgbClr val="000000"/>
              </a:buClr>
              <a:buSzPts val="2400"/>
              <a:buFont typeface="Arial"/>
              <a:buChar char="•"/>
            </a:pPr>
            <a:r>
              <a:rPr lang="es-MX" sz="2400" b="0" i="0" u="none" strike="noStrike" cap="none" dirty="0">
                <a:solidFill>
                  <a:schemeClr val="dk1"/>
                </a:solidFill>
                <a:latin typeface="Calibri"/>
                <a:ea typeface="Calibri"/>
                <a:cs typeface="Calibri"/>
                <a:sym typeface="Calibri"/>
              </a:rPr>
              <a:t>Etc.</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endParaRPr sz="2800" b="1" i="0" u="none" strike="noStrike" cap="none" dirty="0">
              <a:solidFill>
                <a:srgbClr val="7030A0"/>
              </a:solidFill>
              <a:latin typeface="Arial"/>
              <a:ea typeface="Arial"/>
              <a:cs typeface="Arial"/>
              <a:sym typeface="Arial"/>
            </a:endParaRPr>
          </a:p>
        </p:txBody>
      </p:sp>
    </p:spTree>
    <p:extLst>
      <p:ext uri="{BB962C8B-B14F-4D97-AF65-F5344CB8AC3E}">
        <p14:creationId xmlns:p14="http://schemas.microsoft.com/office/powerpoint/2010/main" val="3707557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561974" y="247650"/>
            <a:ext cx="10972800" cy="644871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4400"/>
              <a:buNone/>
            </a:pPr>
            <a:r>
              <a:rPr lang="es-MX" b="1" dirty="0">
                <a:solidFill>
                  <a:srgbClr val="595959"/>
                </a:solidFill>
              </a:rPr>
              <a:t>Contenidos</a:t>
            </a:r>
            <a:br>
              <a:rPr lang="es-MX" b="1" dirty="0">
                <a:solidFill>
                  <a:srgbClr val="595959"/>
                </a:solidFill>
              </a:rPr>
            </a:br>
            <a:br>
              <a:rPr lang="es-MX" dirty="0">
                <a:solidFill>
                  <a:srgbClr val="595959"/>
                </a:solidFill>
                <a:latin typeface="Calibri"/>
                <a:ea typeface="Calibri"/>
                <a:cs typeface="Calibri"/>
                <a:sym typeface="Calibri"/>
              </a:rPr>
            </a:br>
            <a:endParaRPr sz="2400" b="1" dirty="0"/>
          </a:p>
        </p:txBody>
      </p:sp>
      <p:sp>
        <p:nvSpPr>
          <p:cNvPr id="2" name="Rectángulo 1"/>
          <p:cNvSpPr/>
          <p:nvPr/>
        </p:nvSpPr>
        <p:spPr>
          <a:xfrm>
            <a:off x="775855" y="1443841"/>
            <a:ext cx="8368145" cy="5078313"/>
          </a:xfrm>
          <a:prstGeom prst="rect">
            <a:avLst/>
          </a:prstGeom>
        </p:spPr>
        <p:txBody>
          <a:bodyPr wrap="square">
            <a:spAutoFit/>
          </a:bodyPr>
          <a:lstStyle/>
          <a:p>
            <a:r>
              <a:rPr lang="es-ES" sz="1800" dirty="0"/>
              <a:t>Características de las redes inalámbricas (</a:t>
            </a:r>
            <a:r>
              <a:rPr lang="es-ES" sz="1800" dirty="0" err="1"/>
              <a:t>wireless</a:t>
            </a:r>
            <a:r>
              <a:rPr lang="es-ES" sz="1800" dirty="0"/>
              <a:t>).</a:t>
            </a:r>
          </a:p>
          <a:p>
            <a:r>
              <a:rPr lang="es-ES" sz="1800" dirty="0"/>
              <a:t>&gt; Estándares.</a:t>
            </a:r>
          </a:p>
          <a:p>
            <a:r>
              <a:rPr lang="es-ES" sz="1800" dirty="0"/>
              <a:t>&gt; Tipos de antenas, características, ganancias y</a:t>
            </a:r>
          </a:p>
          <a:p>
            <a:r>
              <a:rPr lang="es-ES" sz="1800" dirty="0"/>
              <a:t>directividad.</a:t>
            </a:r>
          </a:p>
          <a:p>
            <a:r>
              <a:rPr lang="es-ES" sz="1800" dirty="0"/>
              <a:t>&gt; Topologías de comunicación inalámbrica redes</a:t>
            </a:r>
          </a:p>
          <a:p>
            <a:r>
              <a:rPr lang="es-ES" sz="1800" dirty="0"/>
              <a:t>WPAN, WLAN y WMAN.</a:t>
            </a:r>
          </a:p>
          <a:p>
            <a:r>
              <a:rPr lang="es-ES" sz="1800" dirty="0"/>
              <a:t>&gt; Tipos de modulación.</a:t>
            </a:r>
          </a:p>
          <a:p>
            <a:r>
              <a:rPr lang="es-ES" sz="1800" dirty="0"/>
              <a:t>&gt; Propagación de ondas electromagnéticas.</a:t>
            </a:r>
          </a:p>
          <a:p>
            <a:r>
              <a:rPr lang="es-ES" sz="1800" dirty="0"/>
              <a:t>&gt; Cálculos básicos de enlaces de radio.</a:t>
            </a:r>
          </a:p>
          <a:p>
            <a:r>
              <a:rPr lang="es-ES" sz="1800" dirty="0"/>
              <a:t>&gt; Técnicas de transmisión inalámbricas.</a:t>
            </a:r>
          </a:p>
          <a:p>
            <a:r>
              <a:rPr lang="es-ES" sz="1800" dirty="0"/>
              <a:t>&gt; Componentes de una red inalámbrica.</a:t>
            </a:r>
          </a:p>
          <a:p>
            <a:r>
              <a:rPr lang="es-ES" sz="1800" dirty="0"/>
              <a:t>&gt; Sistemas inalámbricos fijos y móviles.</a:t>
            </a:r>
          </a:p>
          <a:p>
            <a:r>
              <a:rPr lang="es-ES" sz="1800" dirty="0"/>
              <a:t>&gt; Arquitecturas de red basada en celdas (celular).</a:t>
            </a:r>
          </a:p>
          <a:p>
            <a:r>
              <a:rPr lang="es-ES" sz="1800" dirty="0"/>
              <a:t>&gt; Organismos y estándares en sistemas inalámbricos</a:t>
            </a:r>
          </a:p>
          <a:p>
            <a:r>
              <a:rPr lang="es-ES" sz="1800" dirty="0"/>
              <a:t>(ITU y IEEE).</a:t>
            </a:r>
          </a:p>
          <a:p>
            <a:r>
              <a:rPr lang="es-ES" sz="1800" dirty="0"/>
              <a:t>&gt; Definición del canal de radio.</a:t>
            </a:r>
          </a:p>
          <a:p>
            <a:r>
              <a:rPr lang="es-ES" sz="1800" dirty="0"/>
              <a:t>&gt; Estándares en VHF y UHF para servicios de voz,</a:t>
            </a:r>
          </a:p>
          <a:p>
            <a:r>
              <a:rPr lang="es-ES" sz="1800" dirty="0"/>
              <a:t>datos y televisión.</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561974" y="247650"/>
            <a:ext cx="10972800" cy="644871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4400"/>
              <a:buNone/>
            </a:pPr>
            <a:r>
              <a:rPr lang="es-MX" b="1" dirty="0">
                <a:solidFill>
                  <a:srgbClr val="595959"/>
                </a:solidFill>
              </a:rPr>
              <a:t>Contenidos.</a:t>
            </a:r>
            <a:br>
              <a:rPr lang="es-MX" dirty="0">
                <a:solidFill>
                  <a:srgbClr val="595959"/>
                </a:solidFill>
                <a:latin typeface="Calibri"/>
                <a:ea typeface="Calibri"/>
                <a:cs typeface="Calibri"/>
                <a:sym typeface="Calibri"/>
              </a:rPr>
            </a:br>
            <a:endParaRPr sz="2400" b="1" dirty="0"/>
          </a:p>
        </p:txBody>
      </p:sp>
      <p:sp>
        <p:nvSpPr>
          <p:cNvPr id="2" name="Rectángulo 1"/>
          <p:cNvSpPr/>
          <p:nvPr/>
        </p:nvSpPr>
        <p:spPr>
          <a:xfrm>
            <a:off x="831273" y="1336120"/>
            <a:ext cx="8312727" cy="5355312"/>
          </a:xfrm>
          <a:prstGeom prst="rect">
            <a:avLst/>
          </a:prstGeom>
        </p:spPr>
        <p:txBody>
          <a:bodyPr wrap="square">
            <a:spAutoFit/>
          </a:bodyPr>
          <a:lstStyle/>
          <a:p>
            <a:r>
              <a:rPr lang="es-ES" sz="1800" dirty="0"/>
              <a:t>Telefonía inalámbrica </a:t>
            </a:r>
            <a:r>
              <a:rPr lang="es-ES" sz="1800" dirty="0" err="1"/>
              <a:t>cordless</a:t>
            </a:r>
            <a:r>
              <a:rPr lang="es-ES" sz="1800" dirty="0"/>
              <a:t>.</a:t>
            </a:r>
          </a:p>
          <a:p>
            <a:r>
              <a:rPr lang="es-ES" sz="1800" dirty="0"/>
              <a:t>&gt; Componentes de un equipo de radio.</a:t>
            </a:r>
          </a:p>
          <a:p>
            <a:r>
              <a:rPr lang="es-ES" sz="1800" dirty="0"/>
              <a:t>&gt; Medidor de potencia RF, analizador de espectro.</a:t>
            </a:r>
          </a:p>
          <a:p>
            <a:r>
              <a:rPr lang="es-ES" sz="1800" dirty="0"/>
              <a:t>&gt; Órbita geoestacionaria.</a:t>
            </a:r>
          </a:p>
          <a:p>
            <a:r>
              <a:rPr lang="es-ES" sz="1800" dirty="0"/>
              <a:t>&gt; Bandas de </a:t>
            </a:r>
            <a:r>
              <a:rPr lang="es-ES" sz="1800" dirty="0" err="1"/>
              <a:t>uplink</a:t>
            </a:r>
            <a:r>
              <a:rPr lang="es-ES" sz="1800" dirty="0"/>
              <a:t> y </a:t>
            </a:r>
            <a:r>
              <a:rPr lang="es-ES" sz="1800" dirty="0" err="1"/>
              <a:t>downlink</a:t>
            </a:r>
            <a:r>
              <a:rPr lang="es-ES" sz="1800" dirty="0"/>
              <a:t>.</a:t>
            </a:r>
          </a:p>
          <a:p>
            <a:r>
              <a:rPr lang="es-ES" sz="1800" dirty="0"/>
              <a:t>&gt; Sistemas de transmisión satelital.</a:t>
            </a:r>
          </a:p>
          <a:p>
            <a:r>
              <a:rPr lang="es-ES" sz="1800" dirty="0"/>
              <a:t>&gt; Transpondedores, canales de TV.</a:t>
            </a:r>
          </a:p>
          <a:p>
            <a:r>
              <a:rPr lang="es-ES" sz="1800" dirty="0"/>
              <a:t>&gt; Componentes de recepción: Reflector, LNB, cable</a:t>
            </a:r>
          </a:p>
          <a:p>
            <a:r>
              <a:rPr lang="es-ES" sz="1800" dirty="0"/>
              <a:t>coaxial, decodificador.</a:t>
            </a:r>
          </a:p>
          <a:p>
            <a:r>
              <a:rPr lang="es-ES" sz="1800" dirty="0"/>
              <a:t>&gt; Orientación y ajustes en antena.</a:t>
            </a:r>
          </a:p>
          <a:p>
            <a:r>
              <a:rPr lang="es-ES" sz="1800" dirty="0"/>
              <a:t>&gt; </a:t>
            </a:r>
            <a:r>
              <a:rPr lang="es-ES" sz="1800" dirty="0" err="1"/>
              <a:t>Routers</a:t>
            </a:r>
            <a:r>
              <a:rPr lang="es-ES" sz="1800" dirty="0"/>
              <a:t> inalámbricos para hogar y pequeñas oficinas</a:t>
            </a:r>
          </a:p>
          <a:p>
            <a:r>
              <a:rPr lang="es-ES" sz="1800" dirty="0"/>
              <a:t>y </a:t>
            </a:r>
            <a:r>
              <a:rPr lang="es-ES" sz="1800" dirty="0" err="1"/>
              <a:t>accesspoint</a:t>
            </a:r>
            <a:r>
              <a:rPr lang="es-ES" sz="1800" dirty="0"/>
              <a:t> en redes WLAN.</a:t>
            </a:r>
          </a:p>
          <a:p>
            <a:r>
              <a:rPr lang="es-ES" sz="1800" dirty="0"/>
              <a:t>&gt; Seguridad en redes inalámbricas.</a:t>
            </a:r>
          </a:p>
          <a:p>
            <a:r>
              <a:rPr lang="es-ES" sz="1800" dirty="0"/>
              <a:t>&gt; Implementación de las redes </a:t>
            </a:r>
            <a:r>
              <a:rPr lang="es-ES" sz="1800" dirty="0" err="1"/>
              <a:t>wireless</a:t>
            </a:r>
            <a:r>
              <a:rPr lang="es-ES" sz="1800" dirty="0"/>
              <a:t>.</a:t>
            </a:r>
          </a:p>
          <a:p>
            <a:r>
              <a:rPr lang="es-ES" sz="1800" dirty="0"/>
              <a:t>&gt; Configuración de dispositivos inalámbricos (</a:t>
            </a:r>
            <a:r>
              <a:rPr lang="es-ES" sz="1800" dirty="0" err="1"/>
              <a:t>routers</a:t>
            </a:r>
            <a:endParaRPr lang="es-ES" sz="1800" dirty="0"/>
          </a:p>
          <a:p>
            <a:r>
              <a:rPr lang="es-ES" sz="1800" dirty="0"/>
              <a:t>y </a:t>
            </a:r>
            <a:r>
              <a:rPr lang="es-ES" sz="1800" dirty="0" err="1"/>
              <a:t>accesspoint</a:t>
            </a:r>
            <a:r>
              <a:rPr lang="es-ES" sz="1800" dirty="0"/>
              <a:t>) dentro de una red.</a:t>
            </a:r>
          </a:p>
          <a:p>
            <a:r>
              <a:rPr lang="es-ES" sz="1800" dirty="0"/>
              <a:t>&gt; Interpretación de planos, diagramas o esquemas</a:t>
            </a:r>
          </a:p>
          <a:p>
            <a:r>
              <a:rPr lang="es-ES" sz="1800" dirty="0"/>
              <a:t>de redes LAN inalámbricas.</a:t>
            </a:r>
          </a:p>
          <a:p>
            <a:r>
              <a:rPr lang="es-ES" sz="1800" dirty="0"/>
              <a:t>&gt; Normas de seguridad, calidad y medio ambiente.</a:t>
            </a:r>
            <a:endParaRPr lang="en-US" sz="1800" dirty="0"/>
          </a:p>
        </p:txBody>
      </p:sp>
    </p:spTree>
    <p:extLst>
      <p:ext uri="{BB962C8B-B14F-4D97-AF65-F5344CB8AC3E}">
        <p14:creationId xmlns:p14="http://schemas.microsoft.com/office/powerpoint/2010/main" val="3478631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5"/>
          <p:cNvSpPr txBox="1">
            <a:spLocks noGrp="1"/>
          </p:cNvSpPr>
          <p:nvPr>
            <p:ph type="title"/>
          </p:nvPr>
        </p:nvSpPr>
        <p:spPr>
          <a:xfrm>
            <a:off x="647699" y="333375"/>
            <a:ext cx="10972800" cy="70485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4400"/>
              <a:buFont typeface="Calibri"/>
              <a:buNone/>
            </a:pPr>
            <a:r>
              <a:rPr lang="es-MX" b="1" dirty="0">
                <a:solidFill>
                  <a:srgbClr val="595959"/>
                </a:solidFill>
              </a:rPr>
              <a:t>Metodología de Trabajo.</a:t>
            </a:r>
            <a:br>
              <a:rPr lang="es-MX" b="1" dirty="0">
                <a:solidFill>
                  <a:srgbClr val="595959"/>
                </a:solidFill>
              </a:rPr>
            </a:br>
            <a:endParaRPr sz="2800" b="1" dirty="0"/>
          </a:p>
        </p:txBody>
      </p:sp>
      <p:sp>
        <p:nvSpPr>
          <p:cNvPr id="123" name="Google Shape;123;p5"/>
          <p:cNvSpPr/>
          <p:nvPr/>
        </p:nvSpPr>
        <p:spPr>
          <a:xfrm>
            <a:off x="647699" y="1676401"/>
            <a:ext cx="9619707" cy="4401164"/>
          </a:xfrm>
          <a:prstGeom prst="rect">
            <a:avLst/>
          </a:prstGeom>
          <a:noFill/>
          <a:ln>
            <a:noFill/>
          </a:ln>
        </p:spPr>
        <p:txBody>
          <a:bodyPr spcFirstLastPara="1" wrap="square" lIns="91425" tIns="45700" rIns="91425" bIns="45700" anchor="t" anchorCtr="0">
            <a:spAutoFit/>
          </a:bodyPr>
          <a:lstStyle/>
          <a:p>
            <a:pPr marL="0" marR="0" lvl="0" indent="-152400" algn="l" rtl="0">
              <a:lnSpc>
                <a:spcPct val="100000"/>
              </a:lnSpc>
              <a:spcBef>
                <a:spcPts val="0"/>
              </a:spcBef>
              <a:spcAft>
                <a:spcPts val="0"/>
              </a:spcAft>
              <a:buClr>
                <a:srgbClr val="000000"/>
              </a:buClr>
              <a:buSzPts val="2400"/>
              <a:buFont typeface="Arial"/>
              <a:buChar char="•"/>
            </a:pPr>
            <a:r>
              <a:rPr lang="es-MX" sz="2400" b="0" i="0" u="none" strike="noStrike" cap="none" dirty="0">
                <a:solidFill>
                  <a:schemeClr val="dk1"/>
                </a:solidFill>
                <a:latin typeface="Calibri"/>
                <a:ea typeface="Calibri"/>
                <a:cs typeface="Calibri"/>
                <a:sym typeface="Calibri"/>
              </a:rPr>
              <a:t>Trabajos grupales.</a:t>
            </a:r>
          </a:p>
          <a:p>
            <a:pPr marL="0" marR="0" lvl="0" indent="-152400" algn="l" rtl="0">
              <a:lnSpc>
                <a:spcPct val="100000"/>
              </a:lnSpc>
              <a:spcBef>
                <a:spcPts val="0"/>
              </a:spcBef>
              <a:spcAft>
                <a:spcPts val="0"/>
              </a:spcAft>
              <a:buClr>
                <a:srgbClr val="000000"/>
              </a:buClr>
              <a:buSzPts val="2400"/>
              <a:buFont typeface="Arial"/>
              <a:buChar char="•"/>
            </a:pPr>
            <a:r>
              <a:rPr lang="es-MX" sz="2400" dirty="0">
                <a:solidFill>
                  <a:schemeClr val="dk1"/>
                </a:solidFill>
                <a:latin typeface="Calibri"/>
                <a:cs typeface="Calibri"/>
                <a:sym typeface="Calibri"/>
              </a:rPr>
              <a:t>Resolución de problemas en Packet Tracer</a:t>
            </a:r>
          </a:p>
          <a:p>
            <a:pPr marL="0" marR="0" lvl="0" indent="-152400" algn="l" rtl="0">
              <a:lnSpc>
                <a:spcPct val="100000"/>
              </a:lnSpc>
              <a:spcBef>
                <a:spcPts val="0"/>
              </a:spcBef>
              <a:spcAft>
                <a:spcPts val="0"/>
              </a:spcAft>
              <a:buClr>
                <a:srgbClr val="000000"/>
              </a:buClr>
              <a:buSzPts val="2400"/>
              <a:buFont typeface="Arial"/>
              <a:buChar char="•"/>
            </a:pPr>
            <a:r>
              <a:rPr lang="es-MX" sz="2400" b="0" i="0" u="none" strike="noStrike" cap="none" dirty="0">
                <a:solidFill>
                  <a:schemeClr val="dk1"/>
                </a:solidFill>
                <a:latin typeface="Calibri"/>
                <a:ea typeface="Calibri"/>
                <a:cs typeface="Calibri"/>
                <a:sym typeface="Calibri"/>
              </a:rPr>
              <a:t>Clases expositivas.</a:t>
            </a:r>
            <a:endParaRPr sz="1400" b="0" i="0" u="none" strike="noStrike" cap="none" dirty="0">
              <a:solidFill>
                <a:srgbClr val="000000"/>
              </a:solidFill>
              <a:latin typeface="Arial"/>
              <a:ea typeface="Arial"/>
              <a:cs typeface="Arial"/>
              <a:sym typeface="Arial"/>
            </a:endParaRPr>
          </a:p>
          <a:p>
            <a:pPr marL="0" marR="0" lvl="0" indent="-152400" algn="l" rtl="0">
              <a:lnSpc>
                <a:spcPct val="100000"/>
              </a:lnSpc>
              <a:spcBef>
                <a:spcPts val="0"/>
              </a:spcBef>
              <a:spcAft>
                <a:spcPts val="0"/>
              </a:spcAft>
              <a:buClr>
                <a:srgbClr val="000000"/>
              </a:buClr>
              <a:buSzPts val="2400"/>
              <a:buFont typeface="Arial"/>
              <a:buChar char="•"/>
            </a:pPr>
            <a:r>
              <a:rPr lang="es-MX" sz="2400" b="0" i="0" u="none" strike="noStrike" cap="none" dirty="0">
                <a:solidFill>
                  <a:schemeClr val="dk1"/>
                </a:solidFill>
                <a:latin typeface="Calibri"/>
                <a:ea typeface="Calibri"/>
                <a:cs typeface="Calibri"/>
                <a:sym typeface="Calibri"/>
              </a:rPr>
              <a:t>Desarrollo de cuestionarios.</a:t>
            </a:r>
            <a:endParaRPr sz="2400" b="0" i="0" u="none" strike="noStrike" cap="none" dirty="0">
              <a:solidFill>
                <a:schemeClr val="dk1"/>
              </a:solidFill>
              <a:latin typeface="Calibri"/>
              <a:ea typeface="Calibri"/>
              <a:cs typeface="Calibri"/>
              <a:sym typeface="Calibri"/>
            </a:endParaRPr>
          </a:p>
          <a:p>
            <a:pPr marL="0" marR="0" lvl="0" indent="-152400" algn="l" rtl="0">
              <a:lnSpc>
                <a:spcPct val="100000"/>
              </a:lnSpc>
              <a:spcBef>
                <a:spcPts val="0"/>
              </a:spcBef>
              <a:spcAft>
                <a:spcPts val="0"/>
              </a:spcAft>
              <a:buClr>
                <a:srgbClr val="000000"/>
              </a:buClr>
              <a:buSzPts val="2400"/>
              <a:buFont typeface="Arial"/>
              <a:buChar char="•"/>
            </a:pPr>
            <a:r>
              <a:rPr lang="es-MX" sz="2400" b="0" i="0" u="none" strike="noStrike" cap="none" dirty="0">
                <a:solidFill>
                  <a:schemeClr val="dk1"/>
                </a:solidFill>
                <a:latin typeface="Calibri"/>
                <a:ea typeface="Calibri"/>
                <a:cs typeface="Calibri"/>
                <a:sym typeface="Calibri"/>
              </a:rPr>
              <a:t>Disertaciones.</a:t>
            </a:r>
            <a:endParaRPr sz="2400" b="0" i="0" u="none" strike="noStrike" cap="none" dirty="0">
              <a:solidFill>
                <a:schemeClr val="dk1"/>
              </a:solidFill>
              <a:latin typeface="Calibri"/>
              <a:ea typeface="Calibri"/>
              <a:cs typeface="Calibri"/>
              <a:sym typeface="Calibri"/>
            </a:endParaRPr>
          </a:p>
          <a:p>
            <a:pPr marL="0" marR="0" lvl="0" indent="-152400" algn="l" rtl="0">
              <a:lnSpc>
                <a:spcPct val="100000"/>
              </a:lnSpc>
              <a:spcBef>
                <a:spcPts val="0"/>
              </a:spcBef>
              <a:spcAft>
                <a:spcPts val="0"/>
              </a:spcAft>
              <a:buClr>
                <a:srgbClr val="000000"/>
              </a:buClr>
              <a:buSzPts val="2400"/>
              <a:buFont typeface="Arial"/>
              <a:buChar char="•"/>
            </a:pPr>
            <a:r>
              <a:rPr lang="es-MX" sz="2400" b="0" i="0" u="none" strike="noStrike" cap="none" dirty="0">
                <a:solidFill>
                  <a:schemeClr val="dk1"/>
                </a:solidFill>
                <a:latin typeface="Calibri"/>
                <a:ea typeface="Calibri"/>
                <a:cs typeface="Calibri"/>
                <a:sym typeface="Calibri"/>
              </a:rPr>
              <a:t>Trabajo autónomo por parte del estudiante.</a:t>
            </a:r>
            <a:endParaRPr sz="1400" b="0" i="0" u="none" strike="noStrike" cap="none" dirty="0">
              <a:solidFill>
                <a:srgbClr val="000000"/>
              </a:solidFill>
              <a:latin typeface="Arial"/>
              <a:ea typeface="Arial"/>
              <a:cs typeface="Arial"/>
              <a:sym typeface="Arial"/>
            </a:endParaRPr>
          </a:p>
          <a:p>
            <a:pPr marL="0" marR="0" lvl="0" indent="-152400" algn="l" rtl="0">
              <a:lnSpc>
                <a:spcPct val="100000"/>
              </a:lnSpc>
              <a:spcBef>
                <a:spcPts val="0"/>
              </a:spcBef>
              <a:spcAft>
                <a:spcPts val="0"/>
              </a:spcAft>
              <a:buClr>
                <a:srgbClr val="000000"/>
              </a:buClr>
              <a:buSzPts val="2400"/>
              <a:buFont typeface="Arial"/>
              <a:buChar char="•"/>
            </a:pPr>
            <a:r>
              <a:rPr lang="es-MX" sz="2400" b="0" i="0" u="none" strike="noStrike" cap="none" dirty="0">
                <a:solidFill>
                  <a:schemeClr val="dk1"/>
                </a:solidFill>
                <a:latin typeface="Calibri"/>
                <a:ea typeface="Calibri"/>
                <a:cs typeface="Calibri"/>
                <a:sym typeface="Calibri"/>
              </a:rPr>
              <a:t> Resolución de guías de trabajo.</a:t>
            </a:r>
            <a:endParaRPr sz="1400" b="0" i="0" u="none" strike="noStrike" cap="none" dirty="0">
              <a:solidFill>
                <a:srgbClr val="000000"/>
              </a:solidFill>
              <a:latin typeface="Arial"/>
              <a:ea typeface="Arial"/>
              <a:cs typeface="Arial"/>
              <a:sym typeface="Arial"/>
            </a:endParaRPr>
          </a:p>
          <a:p>
            <a:pPr marL="0" marR="0" lvl="0" indent="-152400" algn="l" rtl="0">
              <a:lnSpc>
                <a:spcPct val="100000"/>
              </a:lnSpc>
              <a:spcBef>
                <a:spcPts val="0"/>
              </a:spcBef>
              <a:spcAft>
                <a:spcPts val="0"/>
              </a:spcAft>
              <a:buClr>
                <a:schemeClr val="dk1"/>
              </a:buClr>
              <a:buSzPts val="2400"/>
              <a:buFont typeface="Calibri"/>
              <a:buChar char="•"/>
            </a:pPr>
            <a:r>
              <a:rPr lang="es-MX" sz="2400" b="0" i="0" u="none" strike="noStrike" cap="none" dirty="0">
                <a:solidFill>
                  <a:schemeClr val="dk1"/>
                </a:solidFill>
                <a:latin typeface="Calibri"/>
                <a:ea typeface="Calibri"/>
                <a:cs typeface="Calibri"/>
                <a:sym typeface="Calibri"/>
              </a:rPr>
              <a:t>Trabajo con material didáctico/material concreto.</a:t>
            </a:r>
            <a:endParaRPr sz="2400" b="0" i="0" u="none" strike="noStrike" cap="none" dirty="0">
              <a:solidFill>
                <a:schemeClr val="dk1"/>
              </a:solidFill>
              <a:latin typeface="Calibri"/>
              <a:ea typeface="Calibri"/>
              <a:cs typeface="Calibri"/>
              <a:sym typeface="Calibri"/>
            </a:endParaRPr>
          </a:p>
          <a:p>
            <a:pPr marL="0" marR="0" lvl="0" indent="-152400" algn="l" rtl="0">
              <a:lnSpc>
                <a:spcPct val="100000"/>
              </a:lnSpc>
              <a:spcBef>
                <a:spcPts val="0"/>
              </a:spcBef>
              <a:spcAft>
                <a:spcPts val="0"/>
              </a:spcAft>
              <a:buClr>
                <a:srgbClr val="000000"/>
              </a:buClr>
              <a:buSzPts val="2400"/>
              <a:buFont typeface="Arial"/>
              <a:buChar char="•"/>
            </a:pPr>
            <a:r>
              <a:rPr lang="es-MX" sz="2400" b="0" i="0" u="none" strike="noStrike" cap="none" dirty="0">
                <a:solidFill>
                  <a:schemeClr val="dk1"/>
                </a:solidFill>
                <a:latin typeface="Calibri"/>
                <a:ea typeface="Calibri"/>
                <a:cs typeface="Calibri"/>
                <a:sym typeface="Calibri"/>
              </a:rPr>
              <a:t>Etc.</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endParaRPr sz="2800" b="1" i="0" u="none" strike="noStrike" cap="none" dirty="0">
              <a:solidFill>
                <a:srgbClr val="7030A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6"/>
          <p:cNvSpPr txBox="1">
            <a:spLocks noGrp="1"/>
          </p:cNvSpPr>
          <p:nvPr>
            <p:ph type="title"/>
          </p:nvPr>
        </p:nvSpPr>
        <p:spPr>
          <a:xfrm>
            <a:off x="190500" y="333375"/>
            <a:ext cx="10568100" cy="5139828"/>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SzPts val="4400"/>
              <a:buNone/>
            </a:pPr>
            <a:r>
              <a:rPr lang="es-MX" sz="4600" dirty="0"/>
              <a:t>       </a:t>
            </a:r>
            <a:r>
              <a:rPr lang="es-MX" sz="4600" b="1" dirty="0"/>
              <a:t>   Tipos de Instrumentos de Evaluación.</a:t>
            </a:r>
            <a:endParaRPr sz="4600" b="1" dirty="0"/>
          </a:p>
          <a:p>
            <a:pPr algn="l"/>
            <a:br>
              <a:rPr lang="es-MX" sz="4600" b="1" dirty="0"/>
            </a:br>
            <a:r>
              <a:rPr lang="es-MX" sz="2600" dirty="0">
                <a:latin typeface="Calibri"/>
                <a:ea typeface="Calibri"/>
                <a:cs typeface="Calibri"/>
                <a:sym typeface="Calibri"/>
              </a:rPr>
              <a:t>- </a:t>
            </a:r>
            <a:r>
              <a:rPr lang="es-MX" sz="2600" dirty="0"/>
              <a:t>Evaluación Diagnóstica Inicial (mes de Marzo)</a:t>
            </a:r>
            <a:br>
              <a:rPr lang="es-MX" sz="2600" dirty="0"/>
            </a:br>
            <a:r>
              <a:rPr lang="es-MX" sz="2600" dirty="0"/>
              <a:t>-</a:t>
            </a:r>
            <a:r>
              <a:rPr lang="es-ES" sz="2800" dirty="0"/>
              <a:t>Resolución de problemas en Packet Tracer</a:t>
            </a:r>
            <a:br>
              <a:rPr lang="es-ES" sz="1600" dirty="0">
                <a:solidFill>
                  <a:srgbClr val="000000"/>
                </a:solidFill>
                <a:latin typeface="Arial"/>
                <a:ea typeface="Arial"/>
                <a:cs typeface="Arial"/>
                <a:sym typeface="Arial"/>
              </a:rPr>
            </a:br>
            <a:r>
              <a:rPr lang="es-MX" sz="2600" dirty="0"/>
              <a:t>- </a:t>
            </a:r>
            <a:r>
              <a:rPr lang="es-MX" sz="2600" dirty="0">
                <a:solidFill>
                  <a:schemeClr val="dk1"/>
                </a:solidFill>
                <a:latin typeface="Calibri"/>
                <a:ea typeface="Calibri"/>
                <a:cs typeface="Calibri"/>
                <a:sym typeface="Calibri"/>
              </a:rPr>
              <a:t>Pruebas coeficiente 1</a:t>
            </a:r>
            <a:br>
              <a:rPr lang="es-MX" sz="2600" dirty="0">
                <a:solidFill>
                  <a:schemeClr val="dk1"/>
                </a:solidFill>
                <a:latin typeface="Calibri"/>
                <a:ea typeface="Calibri"/>
                <a:cs typeface="Calibri"/>
                <a:sym typeface="Calibri"/>
              </a:rPr>
            </a:br>
            <a:r>
              <a:rPr lang="es-MX" sz="2600" dirty="0">
                <a:solidFill>
                  <a:schemeClr val="dk1"/>
                </a:solidFill>
                <a:latin typeface="Calibri"/>
                <a:ea typeface="Calibri"/>
                <a:cs typeface="Calibri"/>
                <a:sym typeface="Calibri"/>
              </a:rPr>
              <a:t>- Test  tipo formulario</a:t>
            </a:r>
            <a:br>
              <a:rPr lang="es-MX" sz="2600" dirty="0">
                <a:solidFill>
                  <a:schemeClr val="dk1"/>
                </a:solidFill>
                <a:latin typeface="Calibri"/>
                <a:ea typeface="Calibri"/>
                <a:cs typeface="Calibri"/>
                <a:sym typeface="Calibri"/>
              </a:rPr>
            </a:br>
            <a:r>
              <a:rPr lang="es-MX" sz="2600" dirty="0">
                <a:solidFill>
                  <a:schemeClr val="dk1"/>
                </a:solidFill>
                <a:latin typeface="Calibri"/>
                <a:ea typeface="Calibri"/>
                <a:cs typeface="Calibri"/>
                <a:sym typeface="Calibri"/>
              </a:rPr>
              <a:t>- Trabajos prácticos.</a:t>
            </a:r>
            <a:br>
              <a:rPr lang="es-MX" sz="2600" dirty="0">
                <a:solidFill>
                  <a:schemeClr val="dk1"/>
                </a:solidFill>
                <a:latin typeface="Calibri"/>
                <a:ea typeface="Calibri"/>
                <a:cs typeface="Calibri"/>
                <a:sym typeface="Calibri"/>
              </a:rPr>
            </a:br>
            <a:r>
              <a:rPr lang="es-MX" sz="2600" dirty="0">
                <a:solidFill>
                  <a:schemeClr val="dk1"/>
                </a:solidFill>
                <a:latin typeface="Calibri"/>
                <a:ea typeface="Calibri"/>
                <a:cs typeface="Calibri"/>
                <a:sym typeface="Calibri"/>
              </a:rPr>
              <a:t>- Nota de proceso.</a:t>
            </a:r>
            <a:br>
              <a:rPr lang="es-MX" sz="2600" dirty="0">
                <a:solidFill>
                  <a:schemeClr val="dk1"/>
                </a:solidFill>
                <a:latin typeface="Calibri"/>
                <a:ea typeface="Calibri"/>
                <a:cs typeface="Calibri"/>
                <a:sym typeface="Calibri"/>
              </a:rPr>
            </a:br>
            <a:br>
              <a:rPr lang="es-MX" sz="2600" dirty="0">
                <a:solidFill>
                  <a:schemeClr val="dk1"/>
                </a:solidFill>
                <a:latin typeface="Calibri"/>
                <a:ea typeface="Calibri"/>
                <a:cs typeface="Calibri"/>
                <a:sym typeface="Calibri"/>
              </a:rPr>
            </a:br>
            <a:r>
              <a:rPr lang="es-MX" sz="2600" dirty="0">
                <a:solidFill>
                  <a:schemeClr val="dk1"/>
                </a:solidFill>
                <a:latin typeface="Calibri"/>
                <a:ea typeface="Calibri"/>
                <a:cs typeface="Calibri"/>
                <a:sym typeface="Calibri"/>
              </a:rPr>
              <a:t>- Etc.</a:t>
            </a:r>
            <a:br>
              <a:rPr lang="es-MX" sz="2600" dirty="0">
                <a:solidFill>
                  <a:schemeClr val="dk1"/>
                </a:solidFill>
                <a:latin typeface="Calibri"/>
                <a:ea typeface="Calibri"/>
                <a:cs typeface="Calibri"/>
                <a:sym typeface="Calibri"/>
              </a:rPr>
            </a:br>
            <a:endParaRPr sz="2600" dirty="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7"/>
          <p:cNvSpPr txBox="1">
            <a:spLocks noGrp="1"/>
          </p:cNvSpPr>
          <p:nvPr>
            <p:ph type="title"/>
          </p:nvPr>
        </p:nvSpPr>
        <p:spPr>
          <a:xfrm>
            <a:off x="647699" y="333375"/>
            <a:ext cx="10972800" cy="8001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4400"/>
              <a:buNone/>
            </a:pPr>
            <a:r>
              <a:rPr lang="es-MX" sz="3600" b="1" dirty="0">
                <a:latin typeface="Arial"/>
                <a:ea typeface="Arial"/>
                <a:cs typeface="Arial"/>
                <a:sym typeface="Arial"/>
              </a:rPr>
              <a:t>Aspectos de Convivencia en Aula / Taller</a:t>
            </a:r>
            <a:endParaRPr sz="3600" b="1" dirty="0">
              <a:latin typeface="Arial"/>
              <a:ea typeface="Arial"/>
              <a:cs typeface="Arial"/>
              <a:sym typeface="Arial"/>
            </a:endParaRPr>
          </a:p>
          <a:p>
            <a:pPr marL="0" lvl="0" indent="0" algn="l" rtl="0">
              <a:lnSpc>
                <a:spcPct val="100000"/>
              </a:lnSpc>
              <a:spcBef>
                <a:spcPts val="0"/>
              </a:spcBef>
              <a:spcAft>
                <a:spcPts val="0"/>
              </a:spcAft>
              <a:buSzPts val="4400"/>
              <a:buNone/>
            </a:pPr>
            <a:endParaRPr sz="2900" b="1" dirty="0">
              <a:latin typeface="Arial"/>
              <a:ea typeface="Arial"/>
              <a:cs typeface="Arial"/>
              <a:sym typeface="Arial"/>
            </a:endParaRPr>
          </a:p>
          <a:p>
            <a:pPr marL="0" lvl="0" indent="0" algn="l" rtl="0">
              <a:lnSpc>
                <a:spcPct val="100000"/>
              </a:lnSpc>
              <a:spcBef>
                <a:spcPts val="0"/>
              </a:spcBef>
              <a:spcAft>
                <a:spcPts val="0"/>
              </a:spcAft>
              <a:buSzPts val="4400"/>
              <a:buNone/>
            </a:pPr>
            <a:endParaRPr sz="2400" b="1" dirty="0">
              <a:latin typeface="Arial"/>
              <a:ea typeface="Arial"/>
              <a:cs typeface="Arial"/>
              <a:sym typeface="Arial"/>
            </a:endParaRPr>
          </a:p>
          <a:p>
            <a:pPr lvl="0" algn="l" rtl="0">
              <a:lnSpc>
                <a:spcPct val="100000"/>
              </a:lnSpc>
              <a:spcBef>
                <a:spcPts val="0"/>
              </a:spcBef>
              <a:spcAft>
                <a:spcPts val="0"/>
              </a:spcAft>
              <a:buSzPts val="2400"/>
            </a:pPr>
            <a:endParaRPr sz="2400" b="1" dirty="0">
              <a:latin typeface="Arial"/>
              <a:ea typeface="Arial"/>
              <a:cs typeface="Arial"/>
              <a:sym typeface="Arial"/>
            </a:endParaRPr>
          </a:p>
          <a:p>
            <a:pPr marL="0" lvl="0" indent="0" algn="l" rtl="0">
              <a:lnSpc>
                <a:spcPct val="100000"/>
              </a:lnSpc>
              <a:spcBef>
                <a:spcPts val="0"/>
              </a:spcBef>
              <a:spcAft>
                <a:spcPts val="0"/>
              </a:spcAft>
              <a:buSzPts val="4400"/>
              <a:buNone/>
            </a:pPr>
            <a:r>
              <a:rPr lang="es-MX" sz="2400" b="1" dirty="0">
                <a:latin typeface="Arial"/>
                <a:ea typeface="Arial"/>
                <a:cs typeface="Arial"/>
                <a:sym typeface="Arial"/>
              </a:rPr>
              <a:t>- Respeto para todos los miembros de la unidad educativa pastoral.</a:t>
            </a:r>
            <a:br>
              <a:rPr lang="es-MX" sz="2400" b="1" dirty="0">
                <a:latin typeface="Arial"/>
                <a:ea typeface="Arial"/>
                <a:cs typeface="Arial"/>
                <a:sym typeface="Arial"/>
              </a:rPr>
            </a:br>
            <a:r>
              <a:rPr lang="es-MX" sz="2400" b="1" dirty="0">
                <a:latin typeface="Arial"/>
                <a:ea typeface="Arial"/>
                <a:cs typeface="Arial"/>
                <a:sym typeface="Arial"/>
              </a:rPr>
              <a:t>- Asistencia a Clases</a:t>
            </a:r>
            <a:br>
              <a:rPr lang="es-MX" sz="2400" b="1" dirty="0">
                <a:latin typeface="Arial"/>
                <a:ea typeface="Arial"/>
                <a:cs typeface="Arial"/>
                <a:sym typeface="Arial"/>
              </a:rPr>
            </a:br>
            <a:r>
              <a:rPr lang="es-MX" sz="2400" b="1" dirty="0">
                <a:latin typeface="Arial"/>
                <a:ea typeface="Arial"/>
                <a:cs typeface="Arial"/>
                <a:sym typeface="Arial"/>
              </a:rPr>
              <a:t>- Uso del guardapolvo</a:t>
            </a:r>
            <a:endParaRPr sz="2400" b="1" dirty="0">
              <a:latin typeface="Arial"/>
              <a:ea typeface="Arial"/>
              <a:cs typeface="Arial"/>
              <a:sym typeface="Arial"/>
            </a:endParaRPr>
          </a:p>
          <a:p>
            <a:pPr marL="0" lvl="0" indent="0" algn="l" rtl="0">
              <a:lnSpc>
                <a:spcPct val="100000"/>
              </a:lnSpc>
              <a:spcBef>
                <a:spcPts val="0"/>
              </a:spcBef>
              <a:spcAft>
                <a:spcPts val="0"/>
              </a:spcAft>
              <a:buSzPts val="4400"/>
              <a:buNone/>
            </a:pPr>
            <a:r>
              <a:rPr lang="es-MX" sz="2400" b="1" dirty="0">
                <a:latin typeface="Arial"/>
                <a:ea typeface="Arial"/>
                <a:cs typeface="Arial"/>
                <a:sym typeface="Arial"/>
              </a:rPr>
              <a:t>- Puntualidad al ingreso al colegio.</a:t>
            </a:r>
            <a:endParaRPr sz="2400" b="1" dirty="0">
              <a:latin typeface="Arial"/>
              <a:ea typeface="Arial"/>
              <a:cs typeface="Arial"/>
              <a:sym typeface="Arial"/>
            </a:endParaRPr>
          </a:p>
          <a:p>
            <a:pPr marL="0" lvl="0" indent="0" algn="l" rtl="0">
              <a:lnSpc>
                <a:spcPct val="100000"/>
              </a:lnSpc>
              <a:spcBef>
                <a:spcPts val="0"/>
              </a:spcBef>
              <a:spcAft>
                <a:spcPts val="0"/>
              </a:spcAft>
              <a:buSzPts val="4400"/>
              <a:buNone/>
            </a:pPr>
            <a:r>
              <a:rPr lang="es-MX" sz="2400" b="1" dirty="0">
                <a:latin typeface="Arial"/>
                <a:ea typeface="Arial"/>
                <a:cs typeface="Arial"/>
                <a:sym typeface="Arial"/>
              </a:rPr>
              <a:t>- Llegar de forma puntual y ordenada a la sala de clases y taller después de los recreos.</a:t>
            </a:r>
            <a:endParaRPr sz="2400" b="1" dirty="0">
              <a:latin typeface="Arial"/>
              <a:ea typeface="Arial"/>
              <a:cs typeface="Arial"/>
              <a:sym typeface="Arial"/>
            </a:endParaRPr>
          </a:p>
          <a:p>
            <a:pPr marL="0" lvl="0" indent="0" algn="l" rtl="0">
              <a:lnSpc>
                <a:spcPct val="100000"/>
              </a:lnSpc>
              <a:spcBef>
                <a:spcPts val="0"/>
              </a:spcBef>
              <a:spcAft>
                <a:spcPts val="0"/>
              </a:spcAft>
              <a:buSzPts val="4400"/>
              <a:buNone/>
            </a:pPr>
            <a:r>
              <a:rPr lang="es-MX" sz="2400" b="1" dirty="0">
                <a:latin typeface="Arial"/>
                <a:ea typeface="Arial"/>
                <a:cs typeface="Arial"/>
                <a:sym typeface="Arial"/>
              </a:rPr>
              <a:t>- Atención en clases.</a:t>
            </a:r>
            <a:br>
              <a:rPr lang="es-MX" sz="2400" b="1" dirty="0">
                <a:latin typeface="Arial"/>
                <a:ea typeface="Arial"/>
                <a:cs typeface="Arial"/>
                <a:sym typeface="Arial"/>
              </a:rPr>
            </a:br>
            <a:r>
              <a:rPr lang="es-MX" sz="2400" b="1" dirty="0">
                <a:latin typeface="Arial"/>
                <a:ea typeface="Arial"/>
                <a:cs typeface="Arial"/>
                <a:sym typeface="Arial"/>
              </a:rPr>
              <a:t>- Evitar las interrupciones, </a:t>
            </a:r>
            <a:br>
              <a:rPr lang="es-MX" sz="2400" b="1" dirty="0">
                <a:latin typeface="Arial"/>
                <a:ea typeface="Arial"/>
                <a:cs typeface="Arial"/>
                <a:sym typeface="Arial"/>
              </a:rPr>
            </a:br>
            <a:r>
              <a:rPr lang="es-MX" sz="2400" b="1" dirty="0">
                <a:latin typeface="Arial"/>
                <a:ea typeface="Arial"/>
                <a:cs typeface="Arial"/>
                <a:sym typeface="Arial"/>
              </a:rPr>
              <a:t>- Dejar ordenado y limpio su lugar de trabajo en laboratorio / Taller</a:t>
            </a:r>
            <a:endParaRPr sz="2500" b="1"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824</TotalTime>
  <Words>1368</Words>
  <Application>Microsoft Office PowerPoint</Application>
  <PresentationFormat>Panorámica</PresentationFormat>
  <Paragraphs>85</Paragraphs>
  <Slides>13</Slides>
  <Notes>13</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13</vt:i4>
      </vt:variant>
    </vt:vector>
  </HeadingPairs>
  <TitlesOfParts>
    <vt:vector size="16" baseType="lpstr">
      <vt:lpstr>Arial</vt:lpstr>
      <vt:lpstr>Calibri</vt:lpstr>
      <vt:lpstr>Office Theme</vt:lpstr>
      <vt:lpstr>Presentación de PowerPoint</vt:lpstr>
      <vt:lpstr>A qué está referida la especialidad ( ¿Para qué prepara?) </vt:lpstr>
      <vt:lpstr> Presentación del Módulo  - Importancia del Módulo en la formación del Técnico de la Especialidad    Este módulo de 228 horas pedagógicas, tiene por objetivo que los y las estudiantes desarrollen los conocimientos y las habilidades necesarias para efectuar una instalación o configuración de sistemas básicos de comunicación inalámbrica (como enlaces básicos y una red inalámbrica local), de acuerdo a las tecnologías, protocolos y estándares de la industria. El propósito de este módulo es que cada estudiante sea capaz de instalar, configurar y mantener sistemas inalámbricos básicos de voz, datos e imagen, verificando parámetros de los equipos y dispositivos que forman parte de ellas; analizar diagramas y planos de instalaciones de enlaces y redes inalámbricas; características del espectro radioeléctrico y su regulación identificando estándares de comunicación inalámbricos ITU –R, la regulación de la Subtel      </vt:lpstr>
      <vt:lpstr> Presentación del Módulo       AE 1   Instala un enlace y/o una red inalámbrica, cumpliendo con los protocolos de instalación del proyecto,  los estándares de la industria y las normas de seguridad.  1.1 Examina el lugar de instalación de la red, de acuerdo a los planos y revisa los requerimientos técnicos del proyecto aplicando procedimientos          establecidos.  1.2 Instala los equipos y dispositivos de transmisión y recepción inalámbricos, de acuerdo a los requerimientos técnicos planteados en el proyecto         y a las especificaciones técnicas del fabricante, cumpliendo con los parámetros de calidad y seguridad.  1.3 Utiliza las herramientas, software e instrumentos durante la instalación de la red inalámbrica, de acuerdo a las especificaciones del manual de         instalación.  1.4 Efectúa pruebas de directividad y ganancia de los enlaces de una red inalámbrica, según las especificaciones técnicas del proyecto.     </vt:lpstr>
      <vt:lpstr> Presentación del Módulo - AE 2   Configura un enlace y/o una red inalámbrica, de acuerdo a los requerimientos del proyecto,      estándares de la industria y las normas de seguridad.  2.1 Configura una red de área local inalámbrica, cumpliendo con los parámetros de calidad y siguiendo las especificaciones       del fabricante y los requisitos del proyecto.  2.2 Orienta las antenas para obtener la máxima ganancia, comprobando por medio de instrumentos que       cumplen con las especificaciones técnicas del proyecto.  2.3 Configura los parámetros de los equipos de comunicación inalámbrica (repetidores, transmisores, etc.), según requerimientos del proyecto y las especificaciones del fabricante.  2.4 Comprueba la configuración de los equipos de comunicación inalámbrica en función los requerimientos del proyecto.       </vt:lpstr>
      <vt:lpstr> Presentación del Módulo - AE 3 3.1 Verifica el funcionamiento y chequea la seguridad de la información en redes inalámbricas según los estándares de autentificación y encriptación, los requerimientos del proyecto y los protocolos de la industria.    3.1 aplica técnicas de seguridad estandarizadas (WaP y 802.11x) en una red inalámbrica con el propósito de mantener la integridad de los datos, según los requerimientos del usuario.   3.2 Comprueba el funcionamiento del software de seguridad instalado en los equipos de una red inalámbrica realizando pruebas mediante un protocolo establecido.  3.3 Verifica los parámetros de conectividad y transmisión, utilizando los instrumentos de prueba básicos y aplicando procedimientos de medición estandarizados.  3.4 Elabora informes técnicos de la instalación y pruebas de equipos de comunicaciones inalámbricas, de acuerdo a protocolos establecidos y en formato normalizado.    </vt:lpstr>
      <vt:lpstr> Presentación del Módulo - AE 4 Aplica procedimientos de trabajo seguro al montaje de sistemas y equipos de telecomunicaciones, de acuerdo a protocolos establecidos y normas de seguridad y medioambientales del proyecto.   Criterios de evaluación  4.1 Ejecuta planes de prevención de accidentes laborales en el montaje de sistemas y equipos de telecomunicaciones, de acuerdo a protocolos establecidos y a las normas medioambientales del proyecto.  4.2 aplica técnicas para la movilización y el traslado de objetos de acuerdo a los protocolos establecidos y a la normativa de seguridad  4.3 Ejecuta planes de prevención de accidentes laborales en el montaje de sistemas y equipos de telecomunicaciones, según los protocolos establecidos y las normas medioambientales necesarias en el proyecto      </vt:lpstr>
      <vt:lpstr>Metodología de Trabajo. </vt:lpstr>
      <vt:lpstr>Contenidos  </vt:lpstr>
      <vt:lpstr>Contenidos. </vt:lpstr>
      <vt:lpstr>Metodología de Trabajo. </vt:lpstr>
      <vt:lpstr>          Tipos de Instrumentos de Evaluación.  - Evaluación Diagnóstica Inicial (mes de Marzo) -Resolución de problemas en Packet Tracer - Pruebas coeficiente 1 - Test  tipo formulario - Trabajos prácticos. - Nota de proceso.  - Etc. </vt:lpstr>
      <vt:lpstr>Aspectos de Convivencia en Aula / Taller    - Respeto para todos los miembros de la unidad educativa pastoral. - Asistencia a Clases - Uso del guardapolvo - Puntualidad al ingreso al colegio. - Llegar de forma puntual y ordenada a la sala de clases y taller después de los recreos. - Atención en clases. - Evitar las interrupciones,  - Dejar ordenado y limpio su lugar de trabajo en laboratorio / Taller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Rosa Nuñez</dc:creator>
  <cp:lastModifiedBy>emerson quevedo</cp:lastModifiedBy>
  <cp:revision>17</cp:revision>
  <dcterms:modified xsi:type="dcterms:W3CDTF">2026-03-08T02:55:39Z</dcterms:modified>
</cp:coreProperties>
</file>